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SYNAPSE — NV-2026 EV Sedan の開発基盤 設計構想。車両開発の知性を一つの画面に束ねるという全体像を提示する。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本日の構成。課題提起から始まり、コンセプト、他分野ベンチマーク、アーキテクチャ原則、車両固有の考慮、最後にロードマップ。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セクション1。なぜ統合ポータルが必要か。車両開発が構造的に抱える課題を整理する。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設計・実験・デザインの3ドメインが断絶している。それぞれ独自のツール・DB・工程を持ち、統合的な進捗把握が困難。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車両開発固有の2つの複雑性。前型流用とサプライヤー供給が、3ドメインのサイロ問題をさらに深刻にする。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セクション2。SYNAPSEのコンセプト。2つの独立した価値を束ねる設計思想。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SYNAPSEが同時に実現する2つの価値。(A)オブジェクト・アンカー型ナビゲーションによる認知的民主化と、(B)ドメイン横断の状態統合によるSingle Source of Truth。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ポジショニングマトリクス。(A)オブジェクトアンカー × (B)ドメイン横断統合。SYNAPSEは両方が高水準の右上象限に位置する希少な設計。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セクション3。他分野ベンチマーク。6分野の実施例から学ぶ設計パターン。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6分野ベンチマーク比較表。航空宇宙のデジタルスレッドが最も近い参照モデル。SYNAPSEは3Dアンカーとドメイン統合の両方が◎の希少設計。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セクション4。4層アーキテクチャ原則。機能は独立ではなく階層的に積み上がる。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4つの機能原則は独立ではなく階層的に積み上がる。下から①デジタルツイン②デジタルスレッド③ゲートウェイ④予測リスク可視化。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セクション5。車両開発固有の考慮事項。前型流用とサプライヤー管理をどう扱うか。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デジタルスレッドが扱うべき車両開発固有のデータ構造。前型流用の参照・引き継ぎと、サプライヤー供給のヒートマップ反映。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セクション6。現在の実装と将来ロードマップ。フロントエンドから統合アーキテクチャへ。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3フェーズの実装ロードマップ。フェーズ1はアンカー層の萌芽（現在）、フェーズ2で接続層・判定層、フェーズ3で出力層が完成する。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クロージング。車両開発の知性を、一つの画面に。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250" y="2985516"/>
            <a:ext cx="11239500" cy="449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64790" y="3514725"/>
            <a:ext cx="9787783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900" b="1" spc="1806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SYNAPSE</a:t>
            </a:r>
            <a:endParaRPr lang="en-US" sz="12900" dirty="0"/>
          </a:p>
        </p:txBody>
      </p:sp>
      <p:sp>
        <p:nvSpPr>
          <p:cNvPr id="4" name="Text 1"/>
          <p:cNvSpPr/>
          <p:nvPr/>
        </p:nvSpPr>
        <p:spPr>
          <a:xfrm>
            <a:off x="5072758" y="5438775"/>
            <a:ext cx="8142409" cy="528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spc="189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Development Intelligence Portal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742201" y="6386513"/>
            <a:ext cx="480352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spc="61" kern="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NV-2026 EV Sedan 開発基盤 設計構想</a:t>
            </a:r>
            <a:endParaRPr lang="en-US" sz="20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49750" y="9124950"/>
            <a:ext cx="552450" cy="552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0266" y="9620250"/>
            <a:ext cx="16617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CADCFC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1643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84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目次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345457" y="1223963"/>
            <a:ext cx="126384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1771650"/>
            <a:ext cx="16192500" cy="28575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914775"/>
            <a:ext cx="161925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3371850"/>
            <a:ext cx="171450" cy="171450"/>
          </a:xfrm>
          <a:prstGeom prst="ellipse">
            <a:avLst/>
          </a:prstGeom>
          <a:solidFill>
            <a:srgbClr val="E0655B"/>
          </a:solidFill>
          <a:ln/>
        </p:spPr>
      </p:sp>
      <p:sp>
        <p:nvSpPr>
          <p:cNvPr id="7" name="Text 5"/>
          <p:cNvSpPr/>
          <p:nvPr/>
        </p:nvSpPr>
        <p:spPr>
          <a:xfrm>
            <a:off x="1619250" y="3209925"/>
            <a:ext cx="876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3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2743200" y="3214688"/>
            <a:ext cx="461681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車両開発が抱える構造的課題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4838700"/>
            <a:ext cx="161925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4295775"/>
            <a:ext cx="171450" cy="17145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619250" y="4133850"/>
            <a:ext cx="876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3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2743200" y="4138613"/>
            <a:ext cx="59975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SYNAPSEのコンセプト — 2つの価値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5762625"/>
            <a:ext cx="161925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" y="5219700"/>
            <a:ext cx="171450" cy="171450"/>
          </a:xfrm>
          <a:prstGeom prst="ellipse">
            <a:avLst/>
          </a:prstGeom>
          <a:solidFill>
            <a:srgbClr val="2BB7B3"/>
          </a:solidFill>
          <a:ln/>
        </p:spPr>
      </p:sp>
      <p:sp>
        <p:nvSpPr>
          <p:cNvPr id="15" name="Text 13"/>
          <p:cNvSpPr/>
          <p:nvPr/>
        </p:nvSpPr>
        <p:spPr>
          <a:xfrm>
            <a:off x="1619250" y="5057775"/>
            <a:ext cx="876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3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2743200" y="5062538"/>
            <a:ext cx="60852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他分野ベンチマーク — 6分野との比較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047750" y="6686550"/>
            <a:ext cx="161925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3950" y="6143625"/>
            <a:ext cx="171450" cy="171450"/>
          </a:xfrm>
          <a:prstGeom prst="ellipse">
            <a:avLst/>
          </a:prstGeom>
          <a:solidFill>
            <a:srgbClr val="8B7FD4"/>
          </a:solidFill>
          <a:ln/>
        </p:spPr>
      </p:sp>
      <p:sp>
        <p:nvSpPr>
          <p:cNvPr id="19" name="Text 17"/>
          <p:cNvSpPr/>
          <p:nvPr/>
        </p:nvSpPr>
        <p:spPr>
          <a:xfrm>
            <a:off x="1619250" y="5981700"/>
            <a:ext cx="876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3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2743200" y="5986463"/>
            <a:ext cx="374627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4層アーキテクチャ原則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047750" y="7610475"/>
            <a:ext cx="161925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3950" y="7067550"/>
            <a:ext cx="171450" cy="17145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619250" y="6905625"/>
            <a:ext cx="876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3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2743200" y="6910388"/>
            <a:ext cx="39185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車両開発固有の考慮事項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123950" y="7991475"/>
            <a:ext cx="171450" cy="171450"/>
          </a:xfrm>
          <a:prstGeom prst="ellipse">
            <a:avLst/>
          </a:prstGeom>
          <a:solidFill>
            <a:srgbClr val="4FAE7E"/>
          </a:solidFill>
          <a:ln/>
        </p:spPr>
      </p:sp>
      <p:sp>
        <p:nvSpPr>
          <p:cNvPr id="26" name="Text 24"/>
          <p:cNvSpPr/>
          <p:nvPr/>
        </p:nvSpPr>
        <p:spPr>
          <a:xfrm>
            <a:off x="1619250" y="7829550"/>
            <a:ext cx="876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C3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50" dirty="0"/>
          </a:p>
        </p:txBody>
      </p:sp>
      <p:sp>
        <p:nvSpPr>
          <p:cNvPr id="27" name="Text 25"/>
          <p:cNvSpPr/>
          <p:nvPr/>
        </p:nvSpPr>
        <p:spPr>
          <a:xfrm>
            <a:off x="2743200" y="7834313"/>
            <a:ext cx="498729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現在の実装と将来ロードマップ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047750" y="96440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066419" y="96202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609600"/>
            <a:ext cx="361950" cy="361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7350" y="692944"/>
            <a:ext cx="196305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CADCF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7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6750" y="2476500"/>
            <a:ext cx="5334000" cy="533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3295650"/>
            <a:ext cx="1760220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b="1" dirty="0">
                <a:solidFill>
                  <a:srgbClr val="CADCFC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1143000" y="5267325"/>
            <a:ext cx="176022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11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車両開発が抱える構造的課題</a:t>
            </a:r>
            <a:endParaRPr lang="en-US" sz="5700" dirty="0"/>
          </a:p>
        </p:txBody>
      </p:sp>
      <p:sp>
        <p:nvSpPr>
          <p:cNvPr id="7" name="Text 3"/>
          <p:cNvSpPr/>
          <p:nvPr/>
        </p:nvSpPr>
        <p:spPr>
          <a:xfrm>
            <a:off x="1143000" y="6562725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なぜ統合ポータルが必要か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43000" y="9644063"/>
            <a:ext cx="13345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971169" y="96202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spc="38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設計・実験・デザインの3ドメインが断絶している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914400" y="1724025"/>
            <a:ext cx="1530477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車両開発では設計（CAD/構造）・実験（計測/評価）・デザイン（スタイリング/審査）の3ドメインが並走するが、それぞれが異なるツール・DB・工程を持ち、統合的な進捗把握が困難な状態にある。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14400" y="3004096"/>
            <a:ext cx="4724400" cy="6482804"/>
          </a:xfrm>
          <a:prstGeom prst="roundRect">
            <a:avLst>
              <a:gd name="adj" fmla="val 1210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5875" y="3585121"/>
            <a:ext cx="43795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設計ドメイン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5875" y="4213771"/>
            <a:ext cx="437959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CAD・BOM・変更管理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85875" y="8629650"/>
            <a:ext cx="3981450" cy="9525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8" name="Text 6"/>
          <p:cNvSpPr/>
          <p:nvPr/>
        </p:nvSpPr>
        <p:spPr>
          <a:xfrm>
            <a:off x="1285875" y="8791575"/>
            <a:ext cx="41008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独自DBで管理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6013" y="5007248"/>
            <a:ext cx="28575" cy="914400"/>
          </a:xfrm>
          <a:prstGeom prst="rect">
            <a:avLst/>
          </a:prstGeom>
          <a:solidFill>
            <a:srgbClr val="E0655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7865" y="6054998"/>
            <a:ext cx="384870" cy="381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96013" y="6569348"/>
            <a:ext cx="28575" cy="914400"/>
          </a:xfrm>
          <a:prstGeom prst="rect">
            <a:avLst/>
          </a:prstGeom>
          <a:solidFill>
            <a:srgbClr val="E0655B"/>
          </a:solidFill>
          <a:ln/>
        </p:spPr>
      </p:sp>
      <p:sp>
        <p:nvSpPr>
          <p:cNvPr id="12" name="Shape 9"/>
          <p:cNvSpPr/>
          <p:nvPr/>
        </p:nvSpPr>
        <p:spPr>
          <a:xfrm>
            <a:off x="6781800" y="3004096"/>
            <a:ext cx="4724400" cy="6482804"/>
          </a:xfrm>
          <a:prstGeom prst="roundRect">
            <a:avLst>
              <a:gd name="adj" fmla="val 1210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275" y="3413671"/>
            <a:ext cx="3981450" cy="5905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3275" y="4175671"/>
            <a:ext cx="43795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実験ドメイン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153275" y="4804321"/>
            <a:ext cx="437959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計測・試験・評価データ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153275" y="8629650"/>
            <a:ext cx="3981450" cy="9525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17" name="Text 13"/>
          <p:cNvSpPr/>
          <p:nvPr/>
        </p:nvSpPr>
        <p:spPr>
          <a:xfrm>
            <a:off x="7153275" y="8791575"/>
            <a:ext cx="41008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独自システムで管理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2063413" y="5007248"/>
            <a:ext cx="28575" cy="914400"/>
          </a:xfrm>
          <a:prstGeom prst="rect">
            <a:avLst/>
          </a:prstGeom>
          <a:solidFill>
            <a:srgbClr val="E065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5265" y="6054998"/>
            <a:ext cx="384870" cy="3810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2063413" y="6569348"/>
            <a:ext cx="28575" cy="914400"/>
          </a:xfrm>
          <a:prstGeom prst="rect">
            <a:avLst/>
          </a:prstGeom>
          <a:solidFill>
            <a:srgbClr val="E0655B"/>
          </a:solidFill>
          <a:ln/>
        </p:spPr>
      </p:sp>
      <p:sp>
        <p:nvSpPr>
          <p:cNvPr id="21" name="Shape 16"/>
          <p:cNvSpPr/>
          <p:nvPr/>
        </p:nvSpPr>
        <p:spPr>
          <a:xfrm>
            <a:off x="12649200" y="3004096"/>
            <a:ext cx="4724400" cy="6482804"/>
          </a:xfrm>
          <a:prstGeom prst="roundRect">
            <a:avLst>
              <a:gd name="adj" fmla="val 1210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0675" y="3413671"/>
            <a:ext cx="3981450" cy="5905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020675" y="4175671"/>
            <a:ext cx="43795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デザインドメイン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3020675" y="4804321"/>
            <a:ext cx="437959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スタイリング・DR・承認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13020675" y="8629650"/>
            <a:ext cx="3981450" cy="9525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26" name="Text 20"/>
          <p:cNvSpPr/>
          <p:nvPr/>
        </p:nvSpPr>
        <p:spPr>
          <a:xfrm>
            <a:off x="13020675" y="8791575"/>
            <a:ext cx="41008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独自プロセスで管理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4400" y="96821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7199769" y="96583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車両開発固有の2つの複雑性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914400" y="4977557"/>
            <a:ext cx="5763969" cy="146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202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車両開発には、他の製品開発には少ない固有の複雑性が存在する。これらが3ドメインのサイロ問題をさらに深刻にする。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7120086" y="3220492"/>
            <a:ext cx="10253514" cy="2318296"/>
          </a:xfrm>
          <a:prstGeom prst="roundRect">
            <a:avLst>
              <a:gd name="adj" fmla="val 2465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10611" y="3572917"/>
            <a:ext cx="800100" cy="80010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354" y="3753892"/>
            <a:ext cx="442540" cy="438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6461" y="3572917"/>
            <a:ext cx="581501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前型車種の流用（キャリーオーバー）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8690759" y="4134892"/>
            <a:ext cx="5268278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53353" indent="-153353">
              <a:lnSpc>
                <a:spcPct val="160000"/>
              </a:lnSpc>
              <a:buSzPct val="100000"/>
              <a:buChar char="•"/>
              <a:tabLst>
                <a:tab pos="153353" algn="l"/>
              </a:tabLst>
            </a:pPr>
            <a:r>
              <a:rPr lang="en-US" sz="172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部品には「新規」「流用」「一部変更」の区分が存在</a:t>
            </a:r>
            <a:endParaRPr lang="en-US" sz="1725" dirty="0"/>
          </a:p>
          <a:p>
            <a:pPr algn="l" marL="153353" indent="-153353">
              <a:lnSpc>
                <a:spcPct val="160000"/>
              </a:lnSpc>
              <a:buSzPct val="100000"/>
              <a:buChar char="•"/>
              <a:tabLst>
                <a:tab pos="153353" algn="l"/>
              </a:tabLst>
            </a:pPr>
            <a:r>
              <a:rPr lang="en-US" sz="172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流用部品は実験・デザイン検証のスコープが異なる</a:t>
            </a:r>
            <a:endParaRPr lang="en-US" sz="1725" dirty="0"/>
          </a:p>
          <a:p>
            <a:pPr algn="l" marL="153353" indent="-153353">
              <a:lnSpc>
                <a:spcPct val="160000"/>
              </a:lnSpc>
              <a:buSzPct val="100000"/>
              <a:buChar char="•"/>
              <a:tabLst>
                <a:tab pos="153353" algn="l"/>
              </a:tabLst>
            </a:pPr>
            <a:r>
              <a:rPr lang="en-US" sz="172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前型データの参照・引き継ぎが必要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7120086" y="5843588"/>
            <a:ext cx="10253514" cy="2318296"/>
          </a:xfrm>
          <a:prstGeom prst="roundRect">
            <a:avLst>
              <a:gd name="adj" fmla="val 2465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10611" y="6196013"/>
            <a:ext cx="800100" cy="800100"/>
          </a:xfrm>
          <a:prstGeom prst="ellipse">
            <a:avLst/>
          </a:prstGeom>
          <a:solidFill>
            <a:srgbClr val="E0A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354" y="6376988"/>
            <a:ext cx="442540" cy="4381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6461" y="6196013"/>
            <a:ext cx="52921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サプライヤー部品供給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8690759" y="6757988"/>
            <a:ext cx="4792920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53353" indent="-153353">
              <a:lnSpc>
                <a:spcPct val="160000"/>
              </a:lnSpc>
              <a:buSzPct val="100000"/>
              <a:buChar char="•"/>
              <a:tabLst>
                <a:tab pos="153353" algn="l"/>
              </a:tabLst>
            </a:pPr>
            <a:r>
              <a:rPr lang="en-US" sz="172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内製・外製で開発の主体と管理権限が異なる</a:t>
            </a:r>
            <a:endParaRPr lang="en-US" sz="1725" dirty="0"/>
          </a:p>
          <a:p>
            <a:pPr algn="l" marL="153353" indent="-153353">
              <a:lnSpc>
                <a:spcPct val="160000"/>
              </a:lnSpc>
              <a:buSzPct val="100000"/>
              <a:buChar char="•"/>
              <a:tabLst>
                <a:tab pos="153353" algn="l"/>
              </a:tabLst>
            </a:pPr>
            <a:r>
              <a:rPr lang="en-US" sz="172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サプライヤーのスケジュール遅延が全体に波及</a:t>
            </a:r>
            <a:endParaRPr lang="en-US" sz="1725" dirty="0"/>
          </a:p>
          <a:p>
            <a:pPr algn="l" marL="153353" indent="-153353">
              <a:lnSpc>
                <a:spcPct val="160000"/>
              </a:lnSpc>
              <a:buSzPct val="100000"/>
              <a:buChar char="•"/>
              <a:tabLst>
                <a:tab pos="153353" algn="l"/>
              </a:tabLst>
            </a:pPr>
            <a:r>
              <a:rPr lang="en-US" sz="172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情報共有の範囲・境界の設計が必要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914400" y="96821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7199769" y="96583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609600"/>
            <a:ext cx="361950" cy="361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7350" y="692944"/>
            <a:ext cx="196305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CADCF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7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6750" y="2476500"/>
            <a:ext cx="5334000" cy="533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3295650"/>
            <a:ext cx="1760220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b="1" dirty="0">
                <a:solidFill>
                  <a:srgbClr val="CADCFC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1143000" y="5267325"/>
            <a:ext cx="176022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11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SYNAPSEのコンセプト</a:t>
            </a:r>
            <a:endParaRPr lang="en-US" sz="5700" dirty="0"/>
          </a:p>
        </p:txBody>
      </p:sp>
      <p:sp>
        <p:nvSpPr>
          <p:cNvPr id="7" name="Text 3"/>
          <p:cNvSpPr/>
          <p:nvPr/>
        </p:nvSpPr>
        <p:spPr>
          <a:xfrm>
            <a:off x="1143000" y="6562725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2つの独立した価値の束ね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43000" y="9644063"/>
            <a:ext cx="13345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971169" y="96202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SYNAPSEが同時に実現する2つの価値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733550"/>
            <a:ext cx="8039100" cy="7242870"/>
          </a:xfrm>
          <a:prstGeom prst="roundRect">
            <a:avLst>
              <a:gd name="adj" fmla="val 105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352550" y="2190750"/>
            <a:ext cx="78790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(A)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52550" y="3009900"/>
            <a:ext cx="787908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オブジェクト・アンカー型ナビゲーション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52550" y="3602310"/>
            <a:ext cx="737768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成果物の3Dモデルを情報の入口として使う。「専門家でなくても、モノを見れば状態が分かる」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352550" y="7942957"/>
            <a:ext cx="2135907" cy="576263"/>
          </a:xfrm>
          <a:prstGeom prst="roundRect">
            <a:avLst>
              <a:gd name="adj" fmla="val 50000"/>
            </a:avLst>
          </a:prstGeom>
          <a:solidFill>
            <a:srgbClr val="CADCFC">
              <a:alpha val="16000"/>
            </a:srgbClr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675" y="8116788"/>
            <a:ext cx="230907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35882" y="810964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認知的民主化</a:t>
            </a:r>
            <a:endParaRPr lang="en-US" sz="1725" dirty="0"/>
          </a:p>
        </p:txBody>
      </p:sp>
      <p:sp>
        <p:nvSpPr>
          <p:cNvPr id="10" name="Shape 7"/>
          <p:cNvSpPr/>
          <p:nvPr/>
        </p:nvSpPr>
        <p:spPr>
          <a:xfrm>
            <a:off x="9334500" y="1733550"/>
            <a:ext cx="8039100" cy="7242870"/>
          </a:xfrm>
          <a:prstGeom prst="roundRect">
            <a:avLst>
              <a:gd name="adj" fmla="val 1052"/>
            </a:avLst>
          </a:prstGeom>
          <a:solidFill>
            <a:srgbClr val="38418C"/>
          </a:solidFill>
          <a:ln/>
        </p:spPr>
      </p:sp>
      <p:sp>
        <p:nvSpPr>
          <p:cNvPr id="11" name="Text 8"/>
          <p:cNvSpPr/>
          <p:nvPr/>
        </p:nvSpPr>
        <p:spPr>
          <a:xfrm>
            <a:off x="9772650" y="2190750"/>
            <a:ext cx="78790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(B)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9772650" y="3009900"/>
            <a:ext cx="787908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ドメイン横断の状態統合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9772650" y="3602310"/>
            <a:ext cx="737768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設計・実験・デザインの進捗を一枚に束ねる。各ドメインDBと連携し、開発全体を提供する。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9772650" y="8014395"/>
            <a:ext cx="2989138" cy="504825"/>
          </a:xfrm>
          <a:prstGeom prst="roundRect">
            <a:avLst>
              <a:gd name="adj" fmla="val 50000"/>
            </a:avLst>
          </a:prstGeom>
          <a:solidFill>
            <a:srgbClr val="CADCFC">
              <a:alpha val="16000"/>
            </a:srgbClr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8152507"/>
            <a:ext cx="230907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55982" y="8142982"/>
            <a:ext cx="22438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914400" y="9224070"/>
            <a:ext cx="17183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i="1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両方を高水準で必要とする分野はそれほど多くない。「成果物が物理オブジェクトとして明確に存在し、複数の専門ドメインが並走する」開発でのみ成立する。</a:t>
            </a:r>
            <a:endParaRPr lang="en-US" sz="1575" dirty="0"/>
          </a:p>
        </p:txBody>
      </p:sp>
      <p:sp>
        <p:nvSpPr>
          <p:cNvPr id="18" name="Text 14"/>
          <p:cNvSpPr/>
          <p:nvPr/>
        </p:nvSpPr>
        <p:spPr>
          <a:xfrm>
            <a:off x="914400" y="97202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7199769" y="96964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SYNAPSEが両立する領域は限定的である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47750" y="3724870"/>
            <a:ext cx="419100" cy="3332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オブジェクト・アンカー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95450" y="2076450"/>
            <a:ext cx="457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695450" y="8353425"/>
            <a:ext cx="457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286000" y="1676400"/>
            <a:ext cx="27929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ドメイン横断統合 ＞ 低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7125950" y="1676400"/>
            <a:ext cx="285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247900" y="2085975"/>
            <a:ext cx="7477125" cy="3405188"/>
          </a:xfrm>
          <a:prstGeom prst="roundRect">
            <a:avLst>
              <a:gd name="adj" fmla="val 1678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1275" y="2400300"/>
            <a:ext cx="7491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建設 / BIM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581275" y="2895600"/>
            <a:ext cx="749141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3Dは強いが施工1ドメイン中心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896475" y="2085975"/>
            <a:ext cx="7477125" cy="3405188"/>
          </a:xfrm>
          <a:prstGeom prst="roundRect">
            <a:avLst>
              <a:gd name="adj" fmla="val 1678"/>
            </a:avLst>
          </a:prstGeom>
          <a:solidFill>
            <a:srgbClr val="1E2761"/>
          </a:solidFill>
          <a:ln w="28575">
            <a:solidFill>
              <a:srgbClr val="E0A93B"/>
            </a:solidFill>
            <a:prstDash val="solid"/>
          </a:ln>
          <a:effectLst>
            <a:outerShdw sx="100000" sy="100000" kx="0" ky="0" algn="bl" rotWithShape="0" blurRad="266700" dist="76200" dir="5400000">
              <a:srgbClr val="1E2761">
                <a:alpha val="2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8900" y="2440781"/>
            <a:ext cx="288652" cy="285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51852" y="2419350"/>
            <a:ext cx="14849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248900" y="2843213"/>
            <a:ext cx="744950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航空宇宙 PLM と並ぶ — 両方が高水準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2247900" y="5662613"/>
            <a:ext cx="7477125" cy="3405188"/>
          </a:xfrm>
          <a:prstGeom prst="roundRect">
            <a:avLst>
              <a:gd name="adj" fmla="val 1678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81275" y="5976938"/>
            <a:ext cx="7491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半導体 EDA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2581275" y="6472238"/>
            <a:ext cx="749141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3D不要・抽象フロー中心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9896475" y="5662613"/>
            <a:ext cx="7477125" cy="3405188"/>
          </a:xfrm>
          <a:prstGeom prst="roundRect">
            <a:avLst>
              <a:gd name="adj" fmla="val 1678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29850" y="5976938"/>
            <a:ext cx="7491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医薬品 / 食品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0229850" y="6472238"/>
            <a:ext cx="749141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統合は強いが3Dアンカーは弱い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914400" y="9258300"/>
            <a:ext cx="18105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各象限に該当する他分野を配置。SYNAPSEは右上象限（高×高）に位置する希少な設計。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14400" y="97202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7199769" y="96964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609600"/>
            <a:ext cx="361950" cy="361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7350" y="692944"/>
            <a:ext cx="196305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CADCF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7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6750" y="2476500"/>
            <a:ext cx="5334000" cy="533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3295650"/>
            <a:ext cx="1760220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b="1" dirty="0">
                <a:solidFill>
                  <a:srgbClr val="CADCFC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1143000" y="5267325"/>
            <a:ext cx="176022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11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他分野ベンチマーク</a:t>
            </a:r>
            <a:endParaRPr lang="en-US" sz="5700" dirty="0"/>
          </a:p>
        </p:txBody>
      </p:sp>
      <p:sp>
        <p:nvSpPr>
          <p:cNvPr id="7" name="Text 3"/>
          <p:cNvSpPr/>
          <p:nvPr/>
        </p:nvSpPr>
        <p:spPr>
          <a:xfrm>
            <a:off x="1143000" y="6562725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6分野の実施例から学ぶ設計パターン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43000" y="9644063"/>
            <a:ext cx="13345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971169" y="96202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04850"/>
            <a:ext cx="184404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構想〜進捗管理〜DB統合を一元化するシステムの他分野実例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762000" y="1452563"/>
            <a:ext cx="16764000" cy="657225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624013"/>
            <a:ext cx="18744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分野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131790" y="1624013"/>
            <a:ext cx="41083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代表システム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90371" y="1624013"/>
            <a:ext cx="2209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3Dアンカー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004971" y="1624013"/>
            <a:ext cx="27270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ドメイン統合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22461" y="1624013"/>
            <a:ext cx="44538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SYNAPSEとの対比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3327425"/>
            <a:ext cx="167640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271713"/>
            <a:ext cx="1874490" cy="941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建設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131790" y="2271713"/>
            <a:ext cx="4108338" cy="941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Autodesk Construction Cloud / BIM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90371" y="2271713"/>
            <a:ext cx="2209800" cy="941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B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BIMモデル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004971" y="2271713"/>
            <a:ext cx="2727015" cy="941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施工1ドメイン中心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022461" y="2271713"/>
            <a:ext cx="4453860" cy="941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Viewerの先行形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62000" y="3336950"/>
            <a:ext cx="16764000" cy="1236241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4563666"/>
            <a:ext cx="167640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3498875"/>
            <a:ext cx="187449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航空宇宙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131790" y="3498875"/>
            <a:ext cx="4108338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Teamcenter / デジタルスレッド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90371" y="3498875"/>
            <a:ext cx="220980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デジタルツイン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004971" y="3498875"/>
            <a:ext cx="2727015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B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設計/試験/製造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022461" y="3498875"/>
            <a:ext cx="445386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最も近い参照モデル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62000" y="5799906"/>
            <a:ext cx="167640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4735116"/>
            <a:ext cx="187449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医薬品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131790" y="4735116"/>
            <a:ext cx="4108338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FDA-TRACK / フェーズゲート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490371" y="4735116"/>
            <a:ext cx="220980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フェーズ図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004971" y="4735116"/>
            <a:ext cx="2727015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B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研究/臨床/規制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022461" y="4735116"/>
            <a:ext cx="445386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ゲートウェイ構造の参照元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62000" y="5809431"/>
            <a:ext cx="16764000" cy="1236241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7036147"/>
            <a:ext cx="167640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971356"/>
            <a:ext cx="187449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🍱 食品/消費財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3131790" y="5971356"/>
            <a:ext cx="4108338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Planview / Conagra事例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490371" y="5971356"/>
            <a:ext cx="220980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なし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004971" y="5971356"/>
            <a:ext cx="2727015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R&amp;D/製造/販売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022461" y="5971356"/>
            <a:ext cx="445386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サイロ解消の参照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62000" y="8272388"/>
            <a:ext cx="16764000" cy="9525"/>
          </a:xfrm>
          <a:prstGeom prst="rect">
            <a:avLst/>
          </a:prstGeom>
          <a:solidFill>
            <a:srgbClr val="E4E9F4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7207597"/>
            <a:ext cx="187449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半導体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3131790" y="7207597"/>
            <a:ext cx="4108338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Synopsys / Cadence EDA / TSMC Alliance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490371" y="7207597"/>
            <a:ext cx="220980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フロアプラン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004971" y="7207597"/>
            <a:ext cx="2727015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l"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設計/検証/製造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3022461" y="7207597"/>
            <a:ext cx="4453860" cy="9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フェーズ構造の参照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62000" y="8281913"/>
            <a:ext cx="16764000" cy="130023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952500" y="8462888"/>
            <a:ext cx="1874490" cy="976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SYNAPSE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3131790" y="8462888"/>
            <a:ext cx="4108338" cy="976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SYNAPSE（NV-2026）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7490371" y="8462888"/>
            <a:ext cx="2209800" cy="976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F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</a:t>
            </a:r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クリッカブル3D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004971" y="8462888"/>
            <a:ext cx="2727015" cy="976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F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</a:t>
            </a:r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設計/実験/デザイン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3022461" y="8462888"/>
            <a:ext cx="4453860" cy="976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両方◎の希少設計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762000" y="97202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7352169" y="96964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609600"/>
            <a:ext cx="361950" cy="361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7350" y="692944"/>
            <a:ext cx="196305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CADCF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7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6750" y="2476500"/>
            <a:ext cx="5334000" cy="533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3295650"/>
            <a:ext cx="1760220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b="1" dirty="0">
                <a:solidFill>
                  <a:srgbClr val="CADCFC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1143000" y="5267325"/>
            <a:ext cx="176022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11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4層アーキテクチャ原則</a:t>
            </a:r>
            <a:endParaRPr lang="en-US" sz="5700" dirty="0"/>
          </a:p>
        </p:txBody>
      </p:sp>
      <p:sp>
        <p:nvSpPr>
          <p:cNvPr id="7" name="Text 3"/>
          <p:cNvSpPr/>
          <p:nvPr/>
        </p:nvSpPr>
        <p:spPr>
          <a:xfrm>
            <a:off x="1143000" y="6562725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階層的に積み上がる統合構造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43000" y="9644063"/>
            <a:ext cx="13345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971169" y="96202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4つの機能原則は独立ではなく階層的に積み上がる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400" y="1590675"/>
            <a:ext cx="15259050" cy="1902619"/>
          </a:xfrm>
          <a:prstGeom prst="roundRect">
            <a:avLst>
              <a:gd name="adj" fmla="val 3004"/>
            </a:avLst>
          </a:prstGeom>
          <a:solidFill>
            <a:srgbClr val="FBF4E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90675"/>
            <a:ext cx="95250" cy="1902619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2256234"/>
            <a:ext cx="571500" cy="5715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256234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171700" y="2163589"/>
            <a:ext cx="25051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予測リスク可視化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601542" y="2263601"/>
            <a:ext cx="10763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99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【出力層】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2171700" y="2630314"/>
            <a:ext cx="15045690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①②③の統合によって初めて成立。統合設計作業の連携を促す「議論の種」の見える化。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14400" y="3626644"/>
            <a:ext cx="15259050" cy="1902619"/>
          </a:xfrm>
          <a:prstGeom prst="roundRect">
            <a:avLst>
              <a:gd name="adj" fmla="val 3004"/>
            </a:avLst>
          </a:prstGeom>
          <a:solidFill>
            <a:srgbClr val="E9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626644"/>
            <a:ext cx="95250" cy="1902619"/>
          </a:xfrm>
          <a:prstGeom prst="rect">
            <a:avLst/>
          </a:prstGeom>
          <a:solidFill>
            <a:srgbClr val="2BB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1333500" y="4292203"/>
            <a:ext cx="571500" cy="571500"/>
          </a:xfrm>
          <a:prstGeom prst="ellipse">
            <a:avLst/>
          </a:prstGeom>
          <a:solidFill>
            <a:srgbClr val="2BB7B3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292203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171700" y="4199558"/>
            <a:ext cx="187653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ゲートウェイ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030042" y="4299570"/>
            <a:ext cx="10763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【判定層】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2171700" y="4666283"/>
            <a:ext cx="15045690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デザインレビューに相当。各ドメインの相互作用を検証しGo/No-Goを構造化。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14400" y="5662613"/>
            <a:ext cx="15259050" cy="1902619"/>
          </a:xfrm>
          <a:prstGeom prst="roundRect">
            <a:avLst>
              <a:gd name="adj" fmla="val 3004"/>
            </a:avLst>
          </a:prstGeom>
          <a:solidFill>
            <a:srgbClr val="F0EDFA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662613"/>
            <a:ext cx="95250" cy="1902619"/>
          </a:xfrm>
          <a:prstGeom prst="rect">
            <a:avLst/>
          </a:prstGeom>
          <a:solidFill>
            <a:srgbClr val="8B7FD4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3500" y="6328172"/>
            <a:ext cx="571500" cy="571500"/>
          </a:xfrm>
          <a:prstGeom prst="ellipse">
            <a:avLst/>
          </a:prstGeom>
          <a:solidFill>
            <a:srgbClr val="8B7FD4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32817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2171700" y="6235526"/>
            <a:ext cx="24894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デジタルスレッド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4587255" y="6335539"/>
            <a:ext cx="10763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A5D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【接続層】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2171700" y="6702251"/>
            <a:ext cx="15045690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各ドメインDBと連携。データの流れ・トレーサビリティ・滞りを管理。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914400" y="7698581"/>
            <a:ext cx="15259050" cy="1902619"/>
          </a:xfrm>
          <a:prstGeom prst="roundRect">
            <a:avLst>
              <a:gd name="adj" fmla="val 3004"/>
            </a:avLst>
          </a:prstGeom>
          <a:solidFill>
            <a:srgbClr val="E9F1FB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7698581"/>
            <a:ext cx="95250" cy="1902619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8364141"/>
            <a:ext cx="571500" cy="5715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8364141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2171700" y="8271495"/>
            <a:ext cx="21720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デジタルツイン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4298677" y="8371508"/>
            <a:ext cx="15401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57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【アンカー層】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2171700" y="8738220"/>
            <a:ext cx="15045690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開発者・デザイナー・経営層の合流点。物理とデジタルを繋ぐ視覚的・感覚的な基盤。</a:t>
            </a:r>
            <a:endParaRPr lang="en-US" sz="1575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5493" y="4654376"/>
            <a:ext cx="461814" cy="4572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 rot="10800000">
            <a:off x="16752094" y="5244926"/>
            <a:ext cx="404813" cy="1330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725" b="1" spc="31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統合の方向</a:t>
            </a:r>
            <a:endParaRPr lang="en-US" sz="1725" dirty="0"/>
          </a:p>
        </p:txBody>
      </p:sp>
      <p:sp>
        <p:nvSpPr>
          <p:cNvPr id="33" name="Text 30"/>
          <p:cNvSpPr/>
          <p:nvPr/>
        </p:nvSpPr>
        <p:spPr>
          <a:xfrm>
            <a:off x="914400" y="97202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7199769" y="96964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609600"/>
            <a:ext cx="361950" cy="361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7350" y="692944"/>
            <a:ext cx="196305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CADCF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7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6750" y="2476500"/>
            <a:ext cx="5334000" cy="533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3295650"/>
            <a:ext cx="1760220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b="1" dirty="0">
                <a:solidFill>
                  <a:srgbClr val="CADCFC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1143000" y="5267325"/>
            <a:ext cx="176022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11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車両開発固有の考慮事項</a:t>
            </a:r>
            <a:endParaRPr lang="en-US" sz="5700" dirty="0"/>
          </a:p>
        </p:txBody>
      </p:sp>
      <p:sp>
        <p:nvSpPr>
          <p:cNvPr id="7" name="Text 3"/>
          <p:cNvSpPr/>
          <p:nvPr/>
        </p:nvSpPr>
        <p:spPr>
          <a:xfrm>
            <a:off x="1143000" y="6562725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前型流用とサプライヤー管理をどう扱うか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43000" y="9644063"/>
            <a:ext cx="13345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971169" y="96202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28650"/>
            <a:ext cx="18440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デジタルスレッドが扱うべき車両開発固有のデータ構造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762000" y="1438275"/>
            <a:ext cx="16764000" cy="4005262"/>
          </a:xfrm>
          <a:prstGeom prst="roundRect">
            <a:avLst>
              <a:gd name="adj" fmla="val 1902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525" y="1447800"/>
            <a:ext cx="16744950" cy="585788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1607344"/>
            <a:ext cx="269379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0954" y="1614488"/>
            <a:ext cx="415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前型車種の流用（キャリーオーバー）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1057275" y="3215208"/>
            <a:ext cx="7662962" cy="10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部品ごとに「新規開発 / 前型流用 / 一部変更」の区分が存在する。区分によって実験・デザイン検証のスコープが異なり、前型データの参照・引き継ぎが必要になる。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974884" y="3121819"/>
            <a:ext cx="1869356" cy="1223963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22398" y="3302794"/>
            <a:ext cx="157432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前型車種DB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1155859" y="3679031"/>
            <a:ext cx="150740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7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実験実績 / 品質履歴 設計データ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13074625" y="3421856"/>
            <a:ext cx="400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参照</a:t>
            </a:r>
            <a:endParaRPr lang="en-US" sz="1275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3789" y="3683794"/>
            <a:ext cx="365596" cy="3619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3628936" y="3167063"/>
            <a:ext cx="1466850" cy="1133475"/>
          </a:xfrm>
          <a:prstGeom prst="roundRect">
            <a:avLst>
              <a:gd name="adj" fmla="val 5042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13838486" y="3338513"/>
            <a:ext cx="1047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NV-2026</a:t>
            </a:r>
            <a:endParaRPr lang="en-US" sz="1575" dirty="0"/>
          </a:p>
        </p:txBody>
      </p:sp>
      <p:sp>
        <p:nvSpPr>
          <p:cNvPr id="15" name="Text 11"/>
          <p:cNvSpPr/>
          <p:nvPr/>
        </p:nvSpPr>
        <p:spPr>
          <a:xfrm>
            <a:off x="13838486" y="3643313"/>
            <a:ext cx="10477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流用判定 （変更有無）</a:t>
            </a:r>
            <a:endParaRPr lang="en-US" sz="1275" dirty="0"/>
          </a:p>
        </p:txBody>
      </p:sp>
      <p:sp>
        <p:nvSpPr>
          <p:cNvPr id="16" name="Shape 12"/>
          <p:cNvSpPr/>
          <p:nvPr/>
        </p:nvSpPr>
        <p:spPr>
          <a:xfrm>
            <a:off x="762000" y="5653088"/>
            <a:ext cx="16764000" cy="4005262"/>
          </a:xfrm>
          <a:prstGeom prst="roundRect">
            <a:avLst>
              <a:gd name="adj" fmla="val 1902"/>
            </a:avLst>
          </a:prstGeom>
          <a:solidFill>
            <a:srgbClr val="F4F7FD"/>
          </a:solidFill>
          <a:ln w="9525">
            <a:solidFill>
              <a:srgbClr val="E1E8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1525" y="5662613"/>
            <a:ext cx="16744950" cy="585788"/>
          </a:xfrm>
          <a:prstGeom prst="rect">
            <a:avLst/>
          </a:prstGeom>
          <a:solidFill>
            <a:srgbClr val="E0A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5822156"/>
            <a:ext cx="269379" cy="2667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0954" y="5829300"/>
            <a:ext cx="2457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サプライヤー部品供給</a:t>
            </a:r>
            <a:endParaRPr lang="en-US" sz="1875" dirty="0"/>
          </a:p>
        </p:txBody>
      </p:sp>
      <p:sp>
        <p:nvSpPr>
          <p:cNvPr id="20" name="Text 15"/>
          <p:cNvSpPr/>
          <p:nvPr/>
        </p:nvSpPr>
        <p:spPr>
          <a:xfrm>
            <a:off x="1057275" y="7430021"/>
            <a:ext cx="7662962" cy="10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454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内製部品と外製部品では開発の主体と進捗管理の権限が異なる。サプライヤーのスケジュール遅延や品質問題がSYNAPSEの進捗ヒートマップに直接影響する。情報共有の境界設計が必要。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9931152" y="7315200"/>
            <a:ext cx="1193825" cy="1266825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31177" y="7458075"/>
            <a:ext cx="793775" cy="276225"/>
          </a:xfrm>
          <a:prstGeom prst="roundRect">
            <a:avLst>
              <a:gd name="adj" fmla="val 13793"/>
            </a:avLst>
          </a:prstGeom>
          <a:solidFill>
            <a:srgbClr val="EDEFF8"/>
          </a:solidFill>
          <a:ln/>
        </p:spPr>
      </p:sp>
      <p:sp>
        <p:nvSpPr>
          <p:cNvPr id="23" name="Text 18"/>
          <p:cNvSpPr/>
          <p:nvPr/>
        </p:nvSpPr>
        <p:spPr>
          <a:xfrm>
            <a:off x="10245477" y="7496175"/>
            <a:ext cx="6413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Tier1-A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10131177" y="7810500"/>
            <a:ext cx="793775" cy="276225"/>
          </a:xfrm>
          <a:prstGeom prst="roundRect">
            <a:avLst>
              <a:gd name="adj" fmla="val 13793"/>
            </a:avLst>
          </a:prstGeom>
          <a:solidFill>
            <a:srgbClr val="EDEFF8"/>
          </a:solidFill>
          <a:ln/>
        </p:spPr>
      </p:sp>
      <p:sp>
        <p:nvSpPr>
          <p:cNvPr id="25" name="Text 20"/>
          <p:cNvSpPr/>
          <p:nvPr/>
        </p:nvSpPr>
        <p:spPr>
          <a:xfrm>
            <a:off x="10245477" y="7848600"/>
            <a:ext cx="6413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Tier1-B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10131177" y="8162925"/>
            <a:ext cx="793775" cy="276225"/>
          </a:xfrm>
          <a:prstGeom prst="roundRect">
            <a:avLst>
              <a:gd name="adj" fmla="val 13793"/>
            </a:avLst>
          </a:prstGeom>
          <a:solidFill>
            <a:srgbClr val="EDEFF8"/>
          </a:solidFill>
          <a:ln/>
        </p:spPr>
      </p:sp>
      <p:sp>
        <p:nvSpPr>
          <p:cNvPr id="27" name="Text 22"/>
          <p:cNvSpPr/>
          <p:nvPr/>
        </p:nvSpPr>
        <p:spPr>
          <a:xfrm>
            <a:off x="10245477" y="8201025"/>
            <a:ext cx="6413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Tier2-C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326713" y="7646194"/>
            <a:ext cx="400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供給</a:t>
            </a:r>
            <a:endParaRPr lang="en-US" sz="1275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477" y="7908131"/>
            <a:ext cx="346397" cy="3429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1852374" y="7643813"/>
            <a:ext cx="1274341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2033349" y="7805738"/>
            <a:ext cx="9123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パーツDB</a:t>
            </a:r>
            <a:endParaRPr lang="en-US" sz="15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7215" y="7777163"/>
            <a:ext cx="346397" cy="3429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3854113" y="7546181"/>
            <a:ext cx="2285405" cy="804863"/>
          </a:xfrm>
          <a:prstGeom prst="roundRect">
            <a:avLst>
              <a:gd name="adj" fmla="val 7101"/>
            </a:avLst>
          </a:prstGeom>
          <a:solidFill>
            <a:srgbClr val="1E2761"/>
          </a:solidFill>
          <a:ln/>
        </p:spPr>
      </p:sp>
      <p:sp>
        <p:nvSpPr>
          <p:cNvPr id="34" name="Text 27"/>
          <p:cNvSpPr/>
          <p:nvPr/>
        </p:nvSpPr>
        <p:spPr>
          <a:xfrm>
            <a:off x="13991302" y="7698581"/>
            <a:ext cx="20110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3D Viewer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3991302" y="7970044"/>
            <a:ext cx="2011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ヒートマップ反映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62000" y="975836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7352169" y="97345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609600"/>
            <a:ext cx="361950" cy="361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7350" y="692944"/>
            <a:ext cx="196305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CADCF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7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6750" y="2476500"/>
            <a:ext cx="5334000" cy="533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3295650"/>
            <a:ext cx="1760220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b="1" dirty="0">
                <a:solidFill>
                  <a:srgbClr val="CADCFC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1143000" y="5267325"/>
            <a:ext cx="1760220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11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現在の実装と将来ロードマップ</a:t>
            </a:r>
            <a:endParaRPr lang="en-US" sz="5700" dirty="0"/>
          </a:p>
        </p:txBody>
      </p:sp>
      <p:sp>
        <p:nvSpPr>
          <p:cNvPr id="7" name="Text 3"/>
          <p:cNvSpPr/>
          <p:nvPr/>
        </p:nvSpPr>
        <p:spPr>
          <a:xfrm>
            <a:off x="1143000" y="6562725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フロントエンドから統合アーキテクチャへ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43000" y="9644063"/>
            <a:ext cx="13345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6971169" y="962025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628650"/>
            <a:ext cx="186499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3フェーズの実装ロードマップ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6750" y="9648825"/>
            <a:ext cx="5204296" cy="9525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4" name="Shape 2"/>
          <p:cNvSpPr/>
          <p:nvPr/>
        </p:nvSpPr>
        <p:spPr>
          <a:xfrm>
            <a:off x="666750" y="1504950"/>
            <a:ext cx="5204296" cy="66675"/>
          </a:xfrm>
          <a:prstGeom prst="rect">
            <a:avLst/>
          </a:prstGeom>
          <a:solidFill>
            <a:srgbClr val="2BB7B3"/>
          </a:solidFill>
          <a:ln/>
        </p:spPr>
      </p:sp>
      <p:sp>
        <p:nvSpPr>
          <p:cNvPr id="5" name="Shape 3"/>
          <p:cNvSpPr/>
          <p:nvPr/>
        </p:nvSpPr>
        <p:spPr>
          <a:xfrm>
            <a:off x="666750" y="1504950"/>
            <a:ext cx="9525" cy="81534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6" name="Shape 4"/>
          <p:cNvSpPr/>
          <p:nvPr/>
        </p:nvSpPr>
        <p:spPr>
          <a:xfrm>
            <a:off x="5861521" y="1504950"/>
            <a:ext cx="9525" cy="81534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7" name="Text 5"/>
          <p:cNvSpPr/>
          <p:nvPr/>
        </p:nvSpPr>
        <p:spPr>
          <a:xfrm>
            <a:off x="923925" y="1781175"/>
            <a:ext cx="515894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2BB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フェーズ1（現在）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23925" y="2109788"/>
            <a:ext cx="51589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フロントエンドプロトタイプ</a:t>
            </a:r>
            <a:endParaRPr lang="en-US" sz="1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2671763"/>
            <a:ext cx="230907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9132" y="2686050"/>
            <a:ext cx="439567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3D Viewer（クリッカブル＋ヒートマップ）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81338"/>
            <a:ext cx="230907" cy="266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9132" y="3095625"/>
            <a:ext cx="262475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3ドメイン進捗ダッシュボード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490913"/>
            <a:ext cx="230907" cy="2667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9132" y="3505200"/>
            <a:ext cx="339712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/ MILESTONES / ISSUES 定数データ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900488"/>
            <a:ext cx="230907" cy="2667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9132" y="3914775"/>
            <a:ext cx="154699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ISSUESリスト表示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23925" y="8924925"/>
            <a:ext cx="4689946" cy="514350"/>
          </a:xfrm>
          <a:prstGeom prst="roundRect">
            <a:avLst>
              <a:gd name="adj" fmla="val 11111"/>
            </a:avLst>
          </a:prstGeom>
          <a:solidFill>
            <a:srgbClr val="E9F7F6"/>
          </a:solidFill>
          <a:ln/>
        </p:spPr>
      </p:sp>
      <p:sp>
        <p:nvSpPr>
          <p:cNvPr id="18" name="Text 12"/>
          <p:cNvSpPr/>
          <p:nvPr/>
        </p:nvSpPr>
        <p:spPr>
          <a:xfrm>
            <a:off x="1025026" y="9039225"/>
            <a:ext cx="4487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アンカー層の萌芽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396" y="5381625"/>
            <a:ext cx="404068" cy="40005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541815" y="9648825"/>
            <a:ext cx="5204371" cy="9525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21" name="Shape 14"/>
          <p:cNvSpPr/>
          <p:nvPr/>
        </p:nvSpPr>
        <p:spPr>
          <a:xfrm>
            <a:off x="6541815" y="1504950"/>
            <a:ext cx="5204371" cy="66675"/>
          </a:xfrm>
          <a:prstGeom prst="rect">
            <a:avLst/>
          </a:prstGeom>
          <a:solidFill>
            <a:srgbClr val="8B7FD4"/>
          </a:solidFill>
          <a:ln/>
        </p:spPr>
      </p:sp>
      <p:sp>
        <p:nvSpPr>
          <p:cNvPr id="22" name="Shape 15"/>
          <p:cNvSpPr/>
          <p:nvPr/>
        </p:nvSpPr>
        <p:spPr>
          <a:xfrm>
            <a:off x="6541815" y="1504950"/>
            <a:ext cx="9525" cy="81534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23" name="Shape 16"/>
          <p:cNvSpPr/>
          <p:nvPr/>
        </p:nvSpPr>
        <p:spPr>
          <a:xfrm>
            <a:off x="11736660" y="1504950"/>
            <a:ext cx="9525" cy="81534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24" name="Text 17"/>
          <p:cNvSpPr/>
          <p:nvPr/>
        </p:nvSpPr>
        <p:spPr>
          <a:xfrm>
            <a:off x="6798990" y="1781175"/>
            <a:ext cx="515902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8B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フェーズ2（次フェーズ）</a:t>
            </a:r>
            <a:endParaRPr lang="en-US" sz="1425" dirty="0"/>
          </a:p>
        </p:txBody>
      </p:sp>
      <p:sp>
        <p:nvSpPr>
          <p:cNvPr id="25" name="Text 18"/>
          <p:cNvSpPr/>
          <p:nvPr/>
        </p:nvSpPr>
        <p:spPr>
          <a:xfrm>
            <a:off x="6798990" y="2109788"/>
            <a:ext cx="51590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バックエンド統合</a:t>
            </a:r>
            <a:endParaRPr lang="en-US" sz="1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990" y="2671763"/>
            <a:ext cx="230907" cy="2667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44196" y="2686050"/>
            <a:ext cx="418658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各ドメインDBとのAPI接続（デジタルスレッド）</a:t>
            </a:r>
            <a:endParaRPr lang="en-US" sz="15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990" y="3081338"/>
            <a:ext cx="230907" cy="5334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44196" y="3095625"/>
            <a:ext cx="44747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フェーズゲートUIとGo/No-Go条件設定（ゲートウェイ）</a:t>
            </a:r>
            <a:endParaRPr lang="en-US" sz="15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8990" y="3757613"/>
            <a:ext cx="230907" cy="5334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44196" y="3771900"/>
            <a:ext cx="4299101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前型流用・サプライヤー情報のデータスキーマ統合</a:t>
            </a:r>
            <a:endParaRPr lang="en-US" sz="15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8990" y="4433888"/>
            <a:ext cx="230907" cy="2667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144196" y="4448175"/>
            <a:ext cx="368102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リアルタイム同期によるリビングモデル化</a:t>
            </a:r>
            <a:endParaRPr lang="en-US" sz="1500" dirty="0"/>
          </a:p>
        </p:txBody>
      </p:sp>
      <p:sp>
        <p:nvSpPr>
          <p:cNvPr id="34" name="Shape 23"/>
          <p:cNvSpPr/>
          <p:nvPr/>
        </p:nvSpPr>
        <p:spPr>
          <a:xfrm>
            <a:off x="6798990" y="8924925"/>
            <a:ext cx="4690021" cy="514350"/>
          </a:xfrm>
          <a:prstGeom prst="roundRect">
            <a:avLst>
              <a:gd name="adj" fmla="val 11111"/>
            </a:avLst>
          </a:prstGeom>
          <a:solidFill>
            <a:srgbClr val="F0EDFA"/>
          </a:solidFill>
          <a:ln/>
        </p:spPr>
      </p:sp>
      <p:sp>
        <p:nvSpPr>
          <p:cNvPr id="35" name="Text 24"/>
          <p:cNvSpPr/>
          <p:nvPr/>
        </p:nvSpPr>
        <p:spPr>
          <a:xfrm>
            <a:off x="6900089" y="9039225"/>
            <a:ext cx="44878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5D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接続層・判定層の実装</a:t>
            </a:r>
            <a:endParaRPr lang="en-US" sz="15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79535" y="5381625"/>
            <a:ext cx="404068" cy="40005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12416954" y="9648825"/>
            <a:ext cx="5204296" cy="9525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38" name="Shape 26"/>
          <p:cNvSpPr/>
          <p:nvPr/>
        </p:nvSpPr>
        <p:spPr>
          <a:xfrm>
            <a:off x="12416954" y="1504950"/>
            <a:ext cx="5204296" cy="66675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9" name="Shape 27"/>
          <p:cNvSpPr/>
          <p:nvPr/>
        </p:nvSpPr>
        <p:spPr>
          <a:xfrm>
            <a:off x="12416954" y="1504950"/>
            <a:ext cx="9525" cy="81534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40" name="Shape 28"/>
          <p:cNvSpPr/>
          <p:nvPr/>
        </p:nvSpPr>
        <p:spPr>
          <a:xfrm>
            <a:off x="17611725" y="1504950"/>
            <a:ext cx="9525" cy="81534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41" name="Text 29"/>
          <p:cNvSpPr/>
          <p:nvPr/>
        </p:nvSpPr>
        <p:spPr>
          <a:xfrm>
            <a:off x="12674129" y="1781175"/>
            <a:ext cx="515894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C99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フェーズ3（将来）</a:t>
            </a:r>
            <a:endParaRPr lang="en-US" sz="1425" dirty="0"/>
          </a:p>
        </p:txBody>
      </p:sp>
      <p:sp>
        <p:nvSpPr>
          <p:cNvPr id="42" name="Text 30"/>
          <p:cNvSpPr/>
          <p:nvPr/>
        </p:nvSpPr>
        <p:spPr>
          <a:xfrm>
            <a:off x="12674129" y="2109788"/>
            <a:ext cx="51589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予測リスク統合</a:t>
            </a:r>
            <a:endParaRPr lang="en-US" sz="19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74129" y="2671763"/>
            <a:ext cx="230907" cy="26670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3019336" y="2686050"/>
            <a:ext cx="309828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ヒートマップへのリスクスコア重畳</a:t>
            </a:r>
            <a:endParaRPr lang="en-US" sz="15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74129" y="3081338"/>
            <a:ext cx="230907" cy="26670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13019336" y="3095625"/>
            <a:ext cx="25527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変更影響の自動伝播アラート</a:t>
            </a:r>
            <a:endParaRPr lang="en-US" sz="15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74129" y="3490913"/>
            <a:ext cx="230907" cy="26670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13019336" y="3505200"/>
            <a:ext cx="333565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因果連鎖の可視化（遅延の波及予測）</a:t>
            </a:r>
            <a:endParaRPr lang="en-US" sz="15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74129" y="3900488"/>
            <a:ext cx="230907" cy="26670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13019336" y="3914775"/>
            <a:ext cx="254704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74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経営層向け自動レポート生成</a:t>
            </a:r>
            <a:endParaRPr lang="en-US" sz="1500" dirty="0"/>
          </a:p>
        </p:txBody>
      </p:sp>
      <p:sp>
        <p:nvSpPr>
          <p:cNvPr id="51" name="Shape 35"/>
          <p:cNvSpPr/>
          <p:nvPr/>
        </p:nvSpPr>
        <p:spPr>
          <a:xfrm>
            <a:off x="12674129" y="8924925"/>
            <a:ext cx="4689946" cy="514350"/>
          </a:xfrm>
          <a:prstGeom prst="roundRect">
            <a:avLst>
              <a:gd name="adj" fmla="val 11111"/>
            </a:avLst>
          </a:prstGeom>
          <a:solidFill>
            <a:srgbClr val="FBF4E6"/>
          </a:solidFill>
          <a:ln/>
        </p:spPr>
      </p:sp>
      <p:sp>
        <p:nvSpPr>
          <p:cNvPr id="52" name="Text 36"/>
          <p:cNvSpPr/>
          <p:nvPr/>
        </p:nvSpPr>
        <p:spPr>
          <a:xfrm>
            <a:off x="12775230" y="9039225"/>
            <a:ext cx="4487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出力層の完成</a:t>
            </a:r>
            <a:endParaRPr lang="en-US" sz="1500" dirty="0"/>
          </a:p>
        </p:txBody>
      </p:sp>
      <p:sp>
        <p:nvSpPr>
          <p:cNvPr id="53" name="Text 37"/>
          <p:cNvSpPr/>
          <p:nvPr/>
        </p:nvSpPr>
        <p:spPr>
          <a:xfrm>
            <a:off x="666750" y="9777413"/>
            <a:ext cx="14770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200" dirty="0"/>
          </a:p>
        </p:txBody>
      </p:sp>
      <p:sp>
        <p:nvSpPr>
          <p:cNvPr id="54" name="Text 38"/>
          <p:cNvSpPr/>
          <p:nvPr/>
        </p:nvSpPr>
        <p:spPr>
          <a:xfrm>
            <a:off x="17447419" y="9753600"/>
            <a:ext cx="2500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250" y="2985516"/>
            <a:ext cx="11239500" cy="449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76057" y="3533775"/>
            <a:ext cx="853583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0" b="1" spc="157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SYNAPSE</a:t>
            </a:r>
            <a:endParaRPr lang="en-US" sz="11250" dirty="0"/>
          </a:p>
        </p:txBody>
      </p:sp>
      <p:sp>
        <p:nvSpPr>
          <p:cNvPr id="4" name="Text 1"/>
          <p:cNvSpPr/>
          <p:nvPr/>
        </p:nvSpPr>
        <p:spPr>
          <a:xfrm>
            <a:off x="5654341" y="5191125"/>
            <a:ext cx="69792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spc="162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Development Intelligence Portal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572426" y="5972175"/>
            <a:ext cx="1143000" cy="1905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344928" y="6353175"/>
            <a:ext cx="75980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NV-2026 EV Sedan — 車両開発の知性を、一つの画面に。</a:t>
            </a:r>
            <a:endParaRPr lang="en-US" sz="2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49750" y="9124950"/>
            <a:ext cx="552450" cy="552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0266" y="9620250"/>
            <a:ext cx="16617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CADCFC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/ NV-2026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2026-06-29T09:10:42Z</dcterms:created>
  <dcterms:modified xsi:type="dcterms:W3CDTF">2026-06-29T09:10:42Z</dcterms:modified>
</cp:coreProperties>
</file>