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SYNAPSE 構想のための横断調査。建築・創薬・航空・プラント・半導体に Backstage 相当の単一の真実源があるか、あるなら何を学べるかを問う。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SYNAPSE は車両開発の統合可視化ポータル構想。設計・実験・デザインの3ドメインを一枚に束ね、クリッカブルな3Dモデルとヒートマップで全ステークホルダーの単一の窓を目指す。本資料は同じ仕組みが他業界にあるか、あれば何を学べるかを問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アンカー＝成果物の構造を情報の入口かつ状態表示面として使うもの。アンカーの部位分解が組織の責任分担と一致したときに機能する。価値の本質は可視化ではなく翻訳コスト削減と意思決定の前倒し。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APSE型の価値は直交する2軸に分解できる。軸A＝オブジェクト・アンカー価値、軸B＝ドメイン横断統合価値。物理的で分解可能な成果物がある業界は両軸が高い。製薬・ソフトは軸Bは高いが軸Aのアンカーを別途作る必要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アンカーの時間性とガバナンスには段階がある。デジタルモデル（手動更新の静的、現状のSYNAPSEモック）→ デジタルシャドウ（実物から仮想への一方向同期）→ デジタルツイン（双方向）。実データを入れた瞬間に誰のデータか・何を赤とするかの再交渉が始まる。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5業界を一覧化。列は業界・Backstage相当の代表例・アンカーの正体・性格。建築CDE、創薬Veeva Vault、航空PLM、プラントAVEVA/Cognite/Palantir、半導体EDA/DDM。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Mが単一の真実源たる製品データ・バックボーンを担う。設計→システムズエンジニアリング→EBOM→変更管理→リリースを一本のデジタルスレッドに。EBOMはリリースゲートでベースライン化＝フェーズゲート。SYNAPSEの構造とほぼ同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E＝中央集権的な情報リポジトリ＝単一の真実源。BIMモデルがアンカー。重要な発見はどの単一プラットフォームも全ライフサイクルを通じた真実源にはなり切れず、ベンダーはフェーズ特化スイート群を作る方向。デジタルツインはBentley iTwin、Autodesk Tandem等。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Veeva Vaultが規制対象の文書・データのデジタルバックボーン＝単一の真実源。臨床eTMF・規制RIM・品質QMS・LIMSを一つに。物理オブジェクトがないためアンカーは文書・記録と知識グラフ。Vault間連携が課題＝後述の縫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プラント：AVEVAがP&amp;IDや3Dやタグを資産情報ハブに。Cognite Data Fusion・AspenTech・Palantir Foundryが産業DataOpsとして単一の真実源を構築。半導体：EDAの上に設計データ管理ENOVIA Synchronicity。設計→fab→パッケージ→テストの相互接続ツインの連鎖。PDKが設計とfabの接点。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ifyがマイクロサービスのために作り2020年公開、CNCFへ寄贈。採用3,000社超、推定200万人。中核はソフトウェアカタログ。決定的な仕組みは所有関係で、全エンティティが一意のownerを持ち、誰に聞くか・アラート・オンコールを駆動＝部位分解＝責任分担。弱点はカタログがYAMLの質次第で、腐敗するとポータルが死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の最小単位はリポジトリで、サービス／システムではない。リポジトリ分解は責任構造を写し取れず、コード一ドメインに閉じる＝アンカーになれない。ただし下層の中心的な供給源。Backstageはcatalog-info.yamlを自動走査し、GitHub Teamsを所有者源に同期、Actionsの状態を吸い上げる。車両に喩えるとGitHub＝設計ドメインのCAD＋変更レビューの源。3DアンカーはBackstageのカタログ。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発見1：複数アンカーの縫合は実在する製品カテゴリ。建築のCDE Sync、創薬のVault間連携、Cogniteは小さく目的特化したツインを多数と明言。発見2：生きたツインと静的シャドウの区別は業界自身の言葉。Palantirは書き戻し可能で双方向なものだけを本物のツインと切り分ける。精神的にBackstageに最も近いのはPalantir FoundryのOntology。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車両SYNAPSEの真の親戚はBackstageではなく航空・自動車のPLM＋デジタルスレッド／ツイン。SYNAPSEはカタログを作り直すのではなく、PLM・実験・スタイリングのソース群の上に乗る横断的な境界オブジェクト体験層として立つ。白地は経営・デザイナー・横断ステークホルダー向けの単一の窓。次の一手はガバナンスを先に固める、PLMの上の参照アーキテクチャまたはPalantir型オントロジーの車両版を試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CB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128827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429" kern="0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横断調査資料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71625"/>
            <a:ext cx="10569933" cy="186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300" b="1" spc="-63" kern="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他業界に学ぶ 「単一の真実源」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047750" y="3757761"/>
            <a:ext cx="1143000" cy="66675"/>
          </a:xfrm>
          <a:prstGeom prst="roundRect">
            <a:avLst>
              <a:gd name="adj" fmla="val 28571"/>
            </a:avLst>
          </a:prstGeom>
          <a:solidFill>
            <a:srgbClr val="000000">
              <a:alpha val="7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148286"/>
            <a:ext cx="745617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000000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建築・創薬・航空・プラント・半導体に Backstage 相当はあるか — SYNAPSE 構想のための横断調査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0" y="9167813"/>
            <a:ext cx="1056993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8" kern="0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構想 ・ NV-2026 EV セダン統合可視化ポータル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309821" y="0"/>
            <a:ext cx="6978179" cy="10287000"/>
          </a:xfrm>
          <a:prstGeom prst="rect">
            <a:avLst/>
          </a:prstGeom>
          <a:solidFill>
            <a:srgbClr val="4FB3B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9821" y="0"/>
            <a:ext cx="6978179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640854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背景と問い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876300" y="2366739"/>
            <a:ext cx="93585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とは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6300" y="2823939"/>
            <a:ext cx="8762993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車両開発（NV-2026 EV セダン）の統合可視化ポータル構想。設計・実験・デザインの3ドメインを一枚に束ね、クリッカブルな3Dモデル＋ヒートマップで全ステークホルダーの単一の窓を目指す。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876300" y="4843239"/>
            <a:ext cx="8507760" cy="1666875"/>
          </a:xfrm>
          <a:prstGeom prst="roundRect">
            <a:avLst>
              <a:gd name="adj" fmla="val 2286"/>
            </a:avLst>
          </a:prstGeom>
          <a:solidFill>
            <a:srgbClr val="FDEEEE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4843239"/>
            <a:ext cx="47625" cy="1666875"/>
          </a:xfrm>
          <a:prstGeom prst="rect">
            <a:avLst/>
          </a:prstGeom>
          <a:solidFill>
            <a:srgbClr val="C10015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5052789"/>
            <a:ext cx="87613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1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1575" y="5471889"/>
            <a:ext cx="820378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専門のサイロ化で、ドメイン横断の不整合が後工程まで露見しない。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76300" y="6757764"/>
            <a:ext cx="8507760" cy="1252538"/>
          </a:xfrm>
          <a:prstGeom prst="roundRect">
            <a:avLst>
              <a:gd name="adj" fmla="val 3042"/>
            </a:avLst>
          </a:prstGeom>
          <a:solidFill>
            <a:srgbClr val="E6F6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6300" y="6757764"/>
            <a:ext cx="47625" cy="1252538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13" name="Text 11"/>
          <p:cNvSpPr/>
          <p:nvPr/>
        </p:nvSpPr>
        <p:spPr>
          <a:xfrm>
            <a:off x="1171575" y="6967314"/>
            <a:ext cx="87613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本資料の問い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1575" y="7386414"/>
            <a:ext cx="87613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同じ仕組みは他業界にあるのか。あるなら何を学べるか。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879360" y="2366739"/>
            <a:ext cx="7532340" cy="6869385"/>
          </a:xfrm>
          <a:prstGeom prst="roundRect">
            <a:avLst>
              <a:gd name="adj" fmla="val 1109"/>
            </a:avLst>
          </a:prstGeom>
          <a:solidFill>
            <a:srgbClr val="FAFAF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5110" y="2652489"/>
            <a:ext cx="6960840" cy="629788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76300" y="923612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876300" y="943615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642035" y="9471868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2155924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分析の枠組み ①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アンカーと境界オブジェクト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3609901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3486076"/>
            <a:ext cx="7823230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アンカー </a:t>
            </a:r>
            <a:pPr algn="l" indent="0" marL="0">
              <a:lnSpc>
                <a:spcPct val="148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＝成果物の構造（車両なら3D形状）を、情報の入口かつ状態表示面として使うもの。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76300" y="4712866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4589041"/>
            <a:ext cx="7823230" cy="94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機能する条件は、アンカーの </a:t>
            </a:r>
            <a:pPr algn="l" indent="0" marL="0">
              <a:lnSpc>
                <a:spcPct val="148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「部位分解」が組織の「責任分担」と一致 </a:t>
            </a:r>
            <a:pPr algn="l" indent="0" marL="0">
              <a:lnSpc>
                <a:spcPct val="148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すること（部位＝担当チーム）。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76300" y="5844406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5720581"/>
            <a:ext cx="7823230" cy="94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これが、異なる専門集団が同じ面を指差して協働できる </a:t>
            </a:r>
            <a:pPr algn="l" indent="0" marL="0">
              <a:lnSpc>
                <a:spcPct val="148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境界オブジェクト </a:t>
            </a:r>
            <a:pPr algn="l" indent="0" marL="0">
              <a:lnSpc>
                <a:spcPct val="148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になる。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76300" y="6852121"/>
            <a:ext cx="7843019" cy="1267718"/>
          </a:xfrm>
          <a:prstGeom prst="roundRect">
            <a:avLst>
              <a:gd name="adj" fmla="val 4508"/>
            </a:avLst>
          </a:prstGeom>
          <a:solidFill>
            <a:srgbClr val="E6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7061671"/>
            <a:ext cx="756815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価値の本質は可視化ではなく、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翻訳コストの削減と意思決定の前倒し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7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76519" y="2660154"/>
            <a:ext cx="8235181" cy="624274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2155924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分析の枠組み ②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価値の2軸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3551113"/>
            <a:ext cx="8125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SYNAPSE型の価値は直交する2軸に分解できる。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76300" y="4189288"/>
            <a:ext cx="7387233" cy="1141065"/>
          </a:xfrm>
          <a:prstGeom prst="roundRect">
            <a:avLst>
              <a:gd name="adj" fmla="val 5008"/>
            </a:avLst>
          </a:prstGeom>
          <a:solidFill>
            <a:srgbClr val="FAFAFA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4189288"/>
            <a:ext cx="47625" cy="114106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4379788"/>
            <a:ext cx="75706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軸A ・ オブジェクト・アンカー価値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2525" y="4779838"/>
            <a:ext cx="75706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3D＋ヒートマップ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876300" y="5539904"/>
            <a:ext cx="7387233" cy="1141065"/>
          </a:xfrm>
          <a:prstGeom prst="roundRect">
            <a:avLst>
              <a:gd name="adj" fmla="val 5008"/>
            </a:avLst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6300" y="5539904"/>
            <a:ext cx="47625" cy="1141065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13" name="Text 11"/>
          <p:cNvSpPr/>
          <p:nvPr/>
        </p:nvSpPr>
        <p:spPr>
          <a:xfrm>
            <a:off x="1152525" y="5730404"/>
            <a:ext cx="75706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軸B ・ ドメイン横断統合価値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525" y="6130454"/>
            <a:ext cx="75706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876300" y="6890519"/>
            <a:ext cx="7608850" cy="1164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025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物理的で分解可能な成果物がある業界（車両・航空・建築・半導体）は両軸が高い。製薬・ソフトは軸Bは高いが、軸Aのアンカーを別途作る必要がある。</a:t>
            </a:r>
            <a:endParaRPr lang="en-US" sz="202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9783" y="2578298"/>
            <a:ext cx="8671917" cy="636843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2155924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分析の枠組み ③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デジタルツインの成熟度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3954512"/>
            <a:ext cx="5295900" cy="4230365"/>
          </a:xfrm>
          <a:prstGeom prst="roundRect">
            <a:avLst>
              <a:gd name="adj" fmla="val 1801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876300" y="3954512"/>
            <a:ext cx="5295900" cy="66675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8" name="Shape 6"/>
          <p:cNvSpPr/>
          <p:nvPr/>
        </p:nvSpPr>
        <p:spPr>
          <a:xfrm>
            <a:off x="1104900" y="3830687"/>
            <a:ext cx="919683" cy="309563"/>
          </a:xfrm>
          <a:prstGeom prst="roundRect">
            <a:avLst>
              <a:gd name="adj" fmla="val 43077"/>
            </a:avLst>
          </a:prstGeom>
          <a:solidFill>
            <a:srgbClr val="9E9E9E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878312"/>
            <a:ext cx="72918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62050" y="6323558"/>
            <a:ext cx="519684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デジタルモデル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162050" y="6890296"/>
            <a:ext cx="5196840" cy="38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000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手動更新の静的な表現。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62050" y="7394302"/>
            <a:ext cx="2668488" cy="466725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9050">
            <a:solidFill>
              <a:srgbClr val="6BCB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4450" y="7470502"/>
            <a:ext cx="24437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現状の SYNAPSE モック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496050" y="2922687"/>
            <a:ext cx="5295900" cy="5262190"/>
          </a:xfrm>
          <a:prstGeom prst="roundRect">
            <a:avLst>
              <a:gd name="adj" fmla="val 1448"/>
            </a:avLst>
          </a:prstGeom>
          <a:solidFill>
            <a:srgbClr val="EE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6050" y="2922687"/>
            <a:ext cx="5295900" cy="6667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4650" y="2798862"/>
            <a:ext cx="919683" cy="309563"/>
          </a:xfrm>
          <a:prstGeom prst="roundRect">
            <a:avLst>
              <a:gd name="adj" fmla="val 43077"/>
            </a:avLst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846487"/>
            <a:ext cx="72918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81800" y="6409283"/>
            <a:ext cx="519684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デジタルシャドウ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6781800" y="6976021"/>
            <a:ext cx="5196840" cy="38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000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実物 → 仮想へ一方向同期。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81800" y="7460977"/>
            <a:ext cx="51968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実物 ──▶ 仮想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2115800" y="1776189"/>
            <a:ext cx="5295900" cy="6408688"/>
          </a:xfrm>
          <a:prstGeom prst="roundRect">
            <a:avLst>
              <a:gd name="adj" fmla="val 1439"/>
            </a:avLst>
          </a:prstGeom>
          <a:solidFill>
            <a:srgbClr val="E6F6F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15800" y="1776189"/>
            <a:ext cx="5295900" cy="66675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344400" y="1652364"/>
            <a:ext cx="919683" cy="309563"/>
          </a:xfrm>
          <a:prstGeom prst="roundRect">
            <a:avLst>
              <a:gd name="adj" fmla="val 43077"/>
            </a:avLst>
          </a:prstGeom>
          <a:solidFill>
            <a:srgbClr val="6BCBCB"/>
          </a:solidFill>
          <a:ln/>
        </p:spPr>
      </p:sp>
      <p:sp>
        <p:nvSpPr>
          <p:cNvPr id="24" name="Text 22"/>
          <p:cNvSpPr/>
          <p:nvPr/>
        </p:nvSpPr>
        <p:spPr>
          <a:xfrm>
            <a:off x="12477750" y="1699989"/>
            <a:ext cx="72918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401550" y="6409283"/>
            <a:ext cx="519684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デジタルツイン</a:t>
            </a:r>
            <a:endParaRPr lang="en-US" sz="2475" dirty="0"/>
          </a:p>
        </p:txBody>
      </p:sp>
      <p:sp>
        <p:nvSpPr>
          <p:cNvPr id="26" name="Text 24"/>
          <p:cNvSpPr/>
          <p:nvPr/>
        </p:nvSpPr>
        <p:spPr>
          <a:xfrm>
            <a:off x="12401550" y="6976021"/>
            <a:ext cx="5196840" cy="38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000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双方向。仮想の操作が実物に作用。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401550" y="7460977"/>
            <a:ext cx="51968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実物 ◀──▶ 仮想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76300" y="8432527"/>
            <a:ext cx="16535400" cy="778148"/>
          </a:xfrm>
          <a:prstGeom prst="roundRect">
            <a:avLst>
              <a:gd name="adj" fmla="val 4896"/>
            </a:avLst>
          </a:prstGeom>
          <a:solidFill>
            <a:srgbClr val="FFF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876300" y="8432527"/>
            <a:ext cx="47625" cy="778148"/>
          </a:xfrm>
          <a:prstGeom prst="rect">
            <a:avLst/>
          </a:prstGeom>
          <a:solidFill>
            <a:srgbClr val="F2C037"/>
          </a:solidFill>
          <a:ln/>
        </p:spPr>
      </p:sp>
      <p:sp>
        <p:nvSpPr>
          <p:cNvPr id="30" name="Text 28"/>
          <p:cNvSpPr/>
          <p:nvPr/>
        </p:nvSpPr>
        <p:spPr>
          <a:xfrm>
            <a:off x="1171575" y="8623027"/>
            <a:ext cx="17591723" cy="435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実データを入れた瞬間に「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誰のデータか・何を赤とするか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」の恒常的な再交渉が始まる ＝ ガバナンスが要点。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Text 30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1205508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横断調査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横断調査の全体像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309589"/>
            <a:ext cx="16535400" cy="634305"/>
          </a:xfrm>
          <a:prstGeom prst="rect">
            <a:avLst/>
          </a:prstGeom>
          <a:solidFill>
            <a:srgbClr val="E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2924845"/>
            <a:ext cx="4133850" cy="19050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461989"/>
            <a:ext cx="3914966" cy="348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10150" y="2924845"/>
            <a:ext cx="4133850" cy="19050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9" name="Text 7"/>
          <p:cNvSpPr/>
          <p:nvPr/>
        </p:nvSpPr>
        <p:spPr>
          <a:xfrm>
            <a:off x="5181600" y="2461989"/>
            <a:ext cx="3914966" cy="348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 相当の代表例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0" y="2924845"/>
            <a:ext cx="4133850" cy="19050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11" name="Text 9"/>
          <p:cNvSpPr/>
          <p:nvPr/>
        </p:nvSpPr>
        <p:spPr>
          <a:xfrm>
            <a:off x="9315450" y="2461989"/>
            <a:ext cx="3914966" cy="348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アンカーの正体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77850" y="2924845"/>
            <a:ext cx="4133850" cy="19050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9300" y="2461989"/>
            <a:ext cx="3914966" cy="348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6300" y="4514329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3086770"/>
            <a:ext cx="3914966" cy="1332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2C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1600" y="3086770"/>
            <a:ext cx="3914966" cy="1332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CDE（Autodesk Construction Cloud、Procore、Bentley ProjectWise、Oracle Aconex、ISO 19650 準拠）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15450" y="3086770"/>
            <a:ext cx="3914966" cy="1332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 モデル＋文書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449300" y="3086770"/>
            <a:ext cx="3914966" cy="1332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フェーズ別スイートの集合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6300" y="4523854"/>
            <a:ext cx="16535400" cy="9352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76300" y="544956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4666729"/>
            <a:ext cx="391496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1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81600" y="4666729"/>
            <a:ext cx="391496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Veeva Vault（eTMF・RIM・QMS・LIMS）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15450" y="4666729"/>
            <a:ext cx="391496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規制文書・記録＋知識グラフ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449300" y="4666729"/>
            <a:ext cx="391496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物理アンカー不在の文書中心バックボーン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6300" y="6704781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5601965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81600" y="5601965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PLM（Siemens Teamcenter、Dassault 3DEXPERIENCE、PTC Windchill）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15450" y="5601965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モデルと EBOM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449300" y="5601965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最も成熟したエンジニアリング・アンカー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76300" y="6714306"/>
            <a:ext cx="16535400" cy="125521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76300" y="7959998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6857181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プラント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81600" y="6857181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AIM＋CONNECT、Cognite Data Fusion、AspenTech、Palantir Foundry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315450" y="6857181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P&amp;ID・3D・タグ＋オントロジー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449300" y="6857181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産業 DataOps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76300" y="9215214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8112398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半導体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81600" y="8112398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EDA（Synopsys、Cadence、Siemens EDA）、DDM（ENOVIA Synchronicity）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15450" y="8112398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ブロック階層・チップレイアウト＋PDK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449300" y="8112398"/>
            <a:ext cx="3914966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ツインの連鎖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76300" y="9229502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2" name="Text 40"/>
          <p:cNvSpPr/>
          <p:nvPr/>
        </p:nvSpPr>
        <p:spPr>
          <a:xfrm>
            <a:off x="876300" y="9429527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642035" y="9465246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2541761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業界深掘り ・ 航空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最も近い親戚 — PLM とデジタルスレッド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2538189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2414364"/>
            <a:ext cx="851550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が</a:t>
            </a:r>
            <a:pPr algn="l" indent="0" marL="0">
              <a:lnSpc>
                <a:spcPct val="146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単一の真実源たる製品データ・バックボーン</a:t>
            </a:r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を担う。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76300" y="3155379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3031554"/>
            <a:ext cx="13093601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EBOM はリリースゲートでベースライン化 ＝ </a:t>
            </a:r>
            <a:pPr algn="l" indent="0" marL="0">
              <a:lnSpc>
                <a:spcPct val="146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フェーズゲート</a:t>
            </a:r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。SYNAPSE の構造とほぼ同型。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76300" y="3772570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3648745"/>
            <a:ext cx="10545767" cy="455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Boeing・Airbus・Lockheed など OEM は自前のデジタルスレッドも構築。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76300" y="4389760"/>
            <a:ext cx="16535400" cy="2224088"/>
          </a:xfrm>
          <a:prstGeom prst="roundRect">
            <a:avLst>
              <a:gd name="adj" fmla="val 4283"/>
            </a:avLst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2050" y="4713610"/>
            <a:ext cx="175602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138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デジタルスレッド（一本の連続した製品データ）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62050" y="5232722"/>
            <a:ext cx="2789337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3560" y="5423222"/>
            <a:ext cx="26063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4008537" y="5232722"/>
            <a:ext cx="327645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317132" y="5232722"/>
            <a:ext cx="3343721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2226" y="5423222"/>
            <a:ext cx="325353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システムズ エンジニアリング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718003" y="5232722"/>
            <a:ext cx="327645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8026598" y="5232722"/>
            <a:ext cx="2789262" cy="1095375"/>
          </a:xfrm>
          <a:prstGeom prst="roundRect">
            <a:avLst>
              <a:gd name="adj" fmla="val 6957"/>
            </a:avLst>
          </a:prstGeom>
          <a:solidFill>
            <a:srgbClr val="E6F6F6"/>
          </a:solidFill>
          <a:ln w="19050">
            <a:solidFill>
              <a:srgbClr val="6BCB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8110" y="5423222"/>
            <a:ext cx="260624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F3535"/>
                </a:solidFill>
                <a:highlight>
                  <a:srgbClr val="E6F6F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EBOM </a:t>
            </a:r>
            <a:pPr algn="ctr" indent="0" marL="0">
              <a:buNone/>
            </a:pPr>
            <a:r>
              <a:rPr lang="en-US" sz="135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ベースライン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873011" y="5232722"/>
            <a:ext cx="327645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1181606" y="5232722"/>
            <a:ext cx="2789337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73116" y="5423222"/>
            <a:ext cx="26063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変更管理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4028093" y="5232722"/>
            <a:ext cx="327645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4336688" y="5232722"/>
            <a:ext cx="2789262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28199" y="5423222"/>
            <a:ext cx="260624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リリース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2541761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業界深掘り ・ 建築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CDE（ISO 19650）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4026396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3902571"/>
            <a:ext cx="8015383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</a:t>
            </a:r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＝中央集権的な情報リポジトリ＝単一の真実源。 </a:t>
            </a:r>
            <a:pPr algn="l" indent="0" marL="0">
              <a:lnSpc>
                <a:spcPct val="146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 モデルがアンカー </a:t>
            </a:r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76300" y="5003602"/>
            <a:ext cx="8029575" cy="2073027"/>
          </a:xfrm>
          <a:prstGeom prst="roundRect">
            <a:avLst>
              <a:gd name="adj" fmla="val 1838"/>
            </a:avLst>
          </a:prstGeom>
          <a:solidFill>
            <a:srgbClr val="FFF8E6"/>
          </a:solidFill>
          <a:ln/>
        </p:spPr>
      </p:sp>
      <p:sp>
        <p:nvSpPr>
          <p:cNvPr id="9" name="Shape 7"/>
          <p:cNvSpPr/>
          <p:nvPr/>
        </p:nvSpPr>
        <p:spPr>
          <a:xfrm>
            <a:off x="876300" y="5003602"/>
            <a:ext cx="47625" cy="2073027"/>
          </a:xfrm>
          <a:prstGeom prst="rect">
            <a:avLst/>
          </a:prstGeom>
          <a:solidFill>
            <a:srgbClr val="F2C037"/>
          </a:solidFill>
          <a:ln/>
        </p:spPr>
      </p:sp>
      <p:sp>
        <p:nvSpPr>
          <p:cNvPr id="10" name="Text 8"/>
          <p:cNvSpPr/>
          <p:nvPr/>
        </p:nvSpPr>
        <p:spPr>
          <a:xfrm>
            <a:off x="1171575" y="5213152"/>
            <a:ext cx="82353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重要な発見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171575" y="5617964"/>
            <a:ext cx="7711250" cy="1287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どの単一プラットフォームも建造物の全ライフサイクルを通じた真実源にはなり切れず、ベンダーは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フェーズ特化スイート群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を作る方向。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876300" y="741000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7286179"/>
            <a:ext cx="8206093" cy="455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デジタルツインは Bentley iTwin／Autodesk Tandem 等。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012933" y="3936057"/>
            <a:ext cx="6767885" cy="1300163"/>
          </a:xfrm>
          <a:prstGeom prst="roundRect">
            <a:avLst>
              <a:gd name="adj" fmla="val 7326"/>
            </a:avLst>
          </a:prstGeom>
          <a:solidFill>
            <a:srgbClr val="E6F6F6"/>
          </a:solidFill>
          <a:ln w="23813">
            <a:solidFill>
              <a:srgbClr val="6BCB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52193" y="4188470"/>
            <a:ext cx="688936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/ BIM モデル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952193" y="4655195"/>
            <a:ext cx="68893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アンカー（単一の真実源）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3234988" y="5464820"/>
            <a:ext cx="4000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82125" y="6164907"/>
            <a:ext cx="2574875" cy="98583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57802" y="6355407"/>
            <a:ext cx="2423522" cy="642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設計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スイート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109400" y="6164907"/>
            <a:ext cx="2574950" cy="98583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85076" y="6355407"/>
            <a:ext cx="2423598" cy="642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施工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スイート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836750" y="6164907"/>
            <a:ext cx="2574950" cy="98583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12426" y="6355407"/>
            <a:ext cx="2423598" cy="642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運用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スイート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01748" y="7379345"/>
            <a:ext cx="26293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00000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フェーズ別スイートの集合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2541761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業界深掘り ・ 創薬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Veeva Vault — 文書中心のバックボーン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422545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4101629"/>
            <a:ext cx="8227464" cy="13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Veeva Vault が規制対象の文書・データの </a:t>
            </a:r>
            <a:pPr algn="l" indent="0" marL="0">
              <a:lnSpc>
                <a:spcPct val="146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デジタルバックボーン </a:t>
            </a:r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＝単一の真実源。臨床（eTMF）・規制（RIM）・品質（QMS）・LIMS を一つに。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76300" y="5743649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5619824"/>
            <a:ext cx="8227464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物理オブジェクトがないため、アンカーは </a:t>
            </a:r>
            <a:pPr algn="l" indent="0" marL="0">
              <a:lnSpc>
                <a:spcPct val="146000"/>
              </a:lnSpc>
              <a:buNone/>
            </a:pPr>
            <a:r>
              <a:rPr lang="en-US" sz="22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文書・記録と知識グラフ </a:t>
            </a:r>
            <a:pPr algn="l" indent="0" marL="0">
              <a:lnSpc>
                <a:spcPct val="146000"/>
              </a:lnSpc>
              <a:buNone/>
            </a:pPr>
            <a:r>
              <a:rPr lang="en-US" sz="22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（Neo4j 等）。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76300" y="6720855"/>
            <a:ext cx="8235479" cy="783506"/>
          </a:xfrm>
          <a:prstGeom prst="roundRect">
            <a:avLst>
              <a:gd name="adj" fmla="val 4863"/>
            </a:avLst>
          </a:prstGeom>
          <a:solidFill>
            <a:srgbClr val="FFF8E6"/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" y="6720855"/>
            <a:ext cx="47625" cy="783506"/>
          </a:xfrm>
          <a:prstGeom prst="rect">
            <a:avLst/>
          </a:prstGeom>
          <a:solidFill>
            <a:srgbClr val="F2C0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71575" y="6911355"/>
            <a:ext cx="8461809" cy="440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間連携（RIM ↔ QMS ↔ LIMS）が課題 ＝ 後述の「</a:t>
            </a:r>
            <a:pPr algn="l" indent="0" marL="0">
              <a:lnSpc>
                <a:spcPct val="142000"/>
              </a:lnSpc>
              <a:buNone/>
            </a:pPr>
            <a:r>
              <a:rPr lang="en-US" sz="21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縫合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88029" y="3907482"/>
            <a:ext cx="3845123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1802" y="4078932"/>
            <a:ext cx="36175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eTMF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566502" y="3907482"/>
            <a:ext cx="3845198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80274" y="4078932"/>
            <a:ext cx="361765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RIM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規制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588029" y="4936182"/>
            <a:ext cx="3845123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802" y="5107632"/>
            <a:ext cx="36175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QMS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3566502" y="4936182"/>
            <a:ext cx="3845198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80274" y="5107632"/>
            <a:ext cx="361765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LIMS </a:t>
            </a:r>
            <a:pPr algn="ctr" indent="0" marL="0">
              <a:buNone/>
            </a:pPr>
            <a:r>
              <a:rPr lang="en-US" sz="135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160946" y="6002982"/>
            <a:ext cx="753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▼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54666" y="6479232"/>
            <a:ext cx="8290396" cy="1219200"/>
          </a:xfrm>
          <a:prstGeom prst="roundRect">
            <a:avLst>
              <a:gd name="adj" fmla="val 7813"/>
            </a:avLst>
          </a:prstGeom>
          <a:solidFill>
            <a:srgbClr val="E6F6F6"/>
          </a:solidFill>
          <a:ln w="23813">
            <a:solidFill>
              <a:srgbClr val="6BCB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6845" y="6712595"/>
            <a:ext cx="860603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Veeva Vault バックボーン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9196845" y="7165032"/>
            <a:ext cx="86060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文書・記録＋知識グラフ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4284232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業界深掘り ・ プラント＆半導体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オントロジーとツインの連鎖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2395314"/>
            <a:ext cx="8077200" cy="6815361"/>
          </a:xfrm>
          <a:prstGeom prst="roundRect">
            <a:avLst>
              <a:gd name="adj" fmla="val 1398"/>
            </a:avLst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2681064"/>
            <a:ext cx="82562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プラント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62050" y="3281139"/>
            <a:ext cx="8256270" cy="43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が </a:t>
            </a:r>
            <a:pPr algn="l" indent="0" marL="0">
              <a:lnSpc>
                <a:spcPct val="146000"/>
              </a:lnSpc>
              <a:buNone/>
            </a:pPr>
            <a:r>
              <a:rPr lang="en-US" sz="202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P&amp;ID・3D・タグ</a:t>
            </a:r>
            <a:pPr algn="l" indent="0" marL="0">
              <a:lnSpc>
                <a:spcPct val="146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を資産情報ハブに統合。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162050" y="3847058"/>
            <a:ext cx="2438400" cy="581025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3980408"/>
            <a:ext cx="22479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P&amp;ID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695700" y="3847058"/>
            <a:ext cx="2438400" cy="581025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0950" y="3980408"/>
            <a:ext cx="22479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29350" y="3847058"/>
            <a:ext cx="2438400" cy="581025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600" y="3980408"/>
            <a:ext cx="22479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タグ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86765" y="4599533"/>
            <a:ext cx="82562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資産情報ハブ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62050" y="7980164"/>
            <a:ext cx="7505700" cy="982861"/>
          </a:xfrm>
          <a:prstGeom prst="roundRect">
            <a:avLst>
              <a:gd name="adj" fmla="val 7753"/>
            </a:avLst>
          </a:prstGeom>
          <a:solidFill>
            <a:srgbClr val="E6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1220915" y="8151614"/>
            <a:ext cx="738797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3535"/>
                </a:solidFill>
                <a:highlight>
                  <a:srgbClr val="E6F6F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産業 DataOps 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Cognite・AspenTech・Palantir Foundry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34500" y="2395314"/>
            <a:ext cx="8077200" cy="6815361"/>
          </a:xfrm>
          <a:prstGeom prst="roundRect">
            <a:avLst>
              <a:gd name="adj" fmla="val 1398"/>
            </a:avLst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0" y="2681064"/>
            <a:ext cx="82562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半導体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20250" y="3281139"/>
            <a:ext cx="7730871" cy="82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02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</a:t>
            </a:r>
            <a:pPr algn="l" indent="0" marL="0">
              <a:lnSpc>
                <a:spcPct val="146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（Synopsys／Cadence／Siemens EDA）の上に設計データ管理（ </a:t>
            </a:r>
            <a:pPr algn="l" indent="0" marL="0">
              <a:lnSpc>
                <a:spcPct val="146000"/>
              </a:lnSpc>
              <a:buNone/>
            </a:pPr>
            <a:r>
              <a:rPr lang="en-US" sz="202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ENOVIA Synchronicity</a:t>
            </a:r>
            <a:pPr algn="l" indent="0" marL="0">
              <a:lnSpc>
                <a:spcPct val="146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＝設計の単一バージョン）。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620250" y="4241527"/>
            <a:ext cx="1690092" cy="533400"/>
          </a:xfrm>
          <a:prstGeom prst="roundRect">
            <a:avLst>
              <a:gd name="adj" fmla="val 12500"/>
            </a:avLst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9300" y="4365352"/>
            <a:ext cx="16519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67492" y="4415358"/>
            <a:ext cx="21029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558736" y="4277246"/>
            <a:ext cx="1690167" cy="461963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77786" y="4401071"/>
            <a:ext cx="165206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306053" y="4415358"/>
            <a:ext cx="21029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497297" y="4241527"/>
            <a:ext cx="1690092" cy="533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16347" y="4365352"/>
            <a:ext cx="16519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パッケージ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244539" y="4415358"/>
            <a:ext cx="21029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435783" y="4241527"/>
            <a:ext cx="1690167" cy="533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454833" y="4365352"/>
            <a:ext cx="16520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20250" y="7980164"/>
            <a:ext cx="7505700" cy="982861"/>
          </a:xfrm>
          <a:prstGeom prst="roundRect">
            <a:avLst>
              <a:gd name="adj" fmla="val 7753"/>
            </a:avLst>
          </a:prstGeom>
          <a:solidFill>
            <a:srgbClr val="F3E5F5"/>
          </a:solidFill>
          <a:ln/>
        </p:spPr>
      </p:sp>
      <p:sp>
        <p:nvSpPr>
          <p:cNvPr id="33" name="Text 31"/>
          <p:cNvSpPr/>
          <p:nvPr/>
        </p:nvSpPr>
        <p:spPr>
          <a:xfrm>
            <a:off x="9679115" y="8151614"/>
            <a:ext cx="738797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A1B8A"/>
                </a:solidFill>
                <a:highlight>
                  <a:srgbClr val="F3E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相互接続ツインの連鎖 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PDK が設計と fab の接点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76300" y="92106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112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82849" y="752475"/>
            <a:ext cx="3597173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ソフトウェア版 SYNAPSE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 詳解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2338164"/>
            <a:ext cx="4019550" cy="971550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759143" y="2471514"/>
            <a:ext cx="42538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59143" y="2800127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公開・CNCF 寄贈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48250" y="2338164"/>
            <a:ext cx="4019550" cy="971550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4931093" y="2471514"/>
            <a:ext cx="42538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931093" y="2800127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採用企業（社）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20200" y="2338164"/>
            <a:ext cx="4019550" cy="971550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9103043" y="2471514"/>
            <a:ext cx="425386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~200万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03043" y="2900139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推定利用者（人）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392150" y="2338164"/>
            <a:ext cx="4019550" cy="971550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/>
        </p:spPr>
      </p:sp>
      <p:sp>
        <p:nvSpPr>
          <p:cNvPr id="16" name="Text 14"/>
          <p:cNvSpPr/>
          <p:nvPr/>
        </p:nvSpPr>
        <p:spPr>
          <a:xfrm>
            <a:off x="13274993" y="2471514"/>
            <a:ext cx="42538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274993" y="2800127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発祥（MS 管理）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6300" y="3519264"/>
            <a:ext cx="9329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中核 ＝ ソフトウェアカタログ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6300" y="4014564"/>
            <a:ext cx="1437456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4090764"/>
            <a:ext cx="12088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2409006" y="4014564"/>
            <a:ext cx="657969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22" name="Text 20"/>
          <p:cNvSpPr/>
          <p:nvPr/>
        </p:nvSpPr>
        <p:spPr>
          <a:xfrm>
            <a:off x="2561406" y="4090764"/>
            <a:ext cx="429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3162226" y="4014564"/>
            <a:ext cx="1242417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14626" y="4090764"/>
            <a:ext cx="10138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4499893" y="4014564"/>
            <a:ext cx="1035248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26" name="Text 24"/>
          <p:cNvSpPr/>
          <p:nvPr/>
        </p:nvSpPr>
        <p:spPr>
          <a:xfrm>
            <a:off x="4652293" y="4090764"/>
            <a:ext cx="8066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5630391" y="4014564"/>
            <a:ext cx="1059731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28" name="Text 26"/>
          <p:cNvSpPr/>
          <p:nvPr/>
        </p:nvSpPr>
        <p:spPr>
          <a:xfrm>
            <a:off x="5782791" y="4090764"/>
            <a:ext cx="8311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6785372" y="4014564"/>
            <a:ext cx="913730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30" name="Text 28"/>
          <p:cNvSpPr/>
          <p:nvPr/>
        </p:nvSpPr>
        <p:spPr>
          <a:xfrm>
            <a:off x="6937772" y="4090764"/>
            <a:ext cx="6851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7794352" y="4014564"/>
            <a:ext cx="767358" cy="409575"/>
          </a:xfrm>
          <a:prstGeom prst="roundRect">
            <a:avLst>
              <a:gd name="adj" fmla="val 41860"/>
            </a:avLst>
          </a:prstGeom>
          <a:solidFill>
            <a:srgbClr val="E6F6F6"/>
          </a:solidFill>
          <a:ln/>
        </p:spPr>
      </p:sp>
      <p:sp>
        <p:nvSpPr>
          <p:cNvPr id="32" name="Text 30"/>
          <p:cNvSpPr/>
          <p:nvPr/>
        </p:nvSpPr>
        <p:spPr>
          <a:xfrm>
            <a:off x="7946752" y="4090764"/>
            <a:ext cx="5387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876300" y="4633689"/>
            <a:ext cx="93291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関係：dependsOn、providesApi／consumesApi、ownedBy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876300" y="5176614"/>
            <a:ext cx="9329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付随機能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6300" y="5671914"/>
            <a:ext cx="87354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テンプレート（Scaffolder）／TechDocs／プラグイン／スコアカード（Soundcheck・Tech Insights）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738345" y="3519264"/>
            <a:ext cx="7673355" cy="1554063"/>
          </a:xfrm>
          <a:prstGeom prst="roundRect">
            <a:avLst>
              <a:gd name="adj" fmla="val 6129"/>
            </a:avLst>
          </a:prstGeom>
          <a:solidFill>
            <a:srgbClr val="E6F6F6"/>
          </a:solidFill>
          <a:ln w="23813">
            <a:solidFill>
              <a:srgbClr val="6BCB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90758" y="3752627"/>
            <a:ext cx="788538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決定的な仕組み ＝ 所有関係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9990758" y="4166964"/>
            <a:ext cx="7383586" cy="71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000000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全エンティティが一意の owner（Group／User）を持ち、「誰に聞くか」「アラート」「オンコール」を駆動 ＝ </a:t>
            </a:r>
            <a:pPr algn="l" indent="0" marL="0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000000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部位分解＝責任分担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000000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38345" y="5244778"/>
            <a:ext cx="7673355" cy="1415951"/>
          </a:xfrm>
          <a:prstGeom prst="roundRect">
            <a:avLst>
              <a:gd name="adj" fmla="val 2691"/>
            </a:avLst>
          </a:prstGeom>
          <a:solidFill>
            <a:srgbClr val="FD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9738345" y="5244778"/>
            <a:ext cx="47625" cy="1415951"/>
          </a:xfrm>
          <a:prstGeom prst="rect">
            <a:avLst/>
          </a:prstGeom>
          <a:solidFill>
            <a:srgbClr val="C10015"/>
          </a:solidFill>
          <a:ln/>
        </p:spPr>
      </p:sp>
      <p:sp>
        <p:nvSpPr>
          <p:cNvPr id="41" name="Text 39"/>
          <p:cNvSpPr/>
          <p:nvPr/>
        </p:nvSpPr>
        <p:spPr>
          <a:xfrm>
            <a:off x="10014570" y="5435278"/>
            <a:ext cx="788538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1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0014570" y="5821040"/>
            <a:ext cx="7383586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カタログはメタデータ（YAML）の質次第。腐敗するとポータルが死ぬ ＝ 検証とスコアカードの運用が必要。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76300" y="922972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Text 42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1770162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ソフトウェア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の位置づけ — アンカーではなく供給源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391812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3794299"/>
            <a:ext cx="8025194" cy="127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最小単位はリポジトリで、サービス／システムではない。リポジトリ分解は責任構造を写し取れず、コード一ドメインに閉じる ＝ </a:t>
            </a:r>
            <a:pPr algn="l" indent="0" marL="0">
              <a:lnSpc>
                <a:spcPct val="146000"/>
              </a:lnSpc>
              <a:buNone/>
            </a:pPr>
            <a:r>
              <a:rPr lang="en-US" sz="21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アンカーになれない</a:t>
            </a:r>
            <a:pPr algn="l" indent="0" marL="0">
              <a:lnSpc>
                <a:spcPct val="146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876300" y="5342186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5218361"/>
            <a:ext cx="8025194" cy="127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ただし下層の中心的な</a:t>
            </a:r>
            <a:pPr algn="l" indent="0" marL="0">
              <a:lnSpc>
                <a:spcPct val="146000"/>
              </a:lnSpc>
              <a:buNone/>
            </a:pPr>
            <a:r>
              <a:rPr lang="en-US" sz="21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供給源 </a:t>
            </a:r>
            <a:pPr algn="l" indent="0" marL="0">
              <a:lnSpc>
                <a:spcPct val="146000"/>
              </a:lnSpc>
              <a:buNone/>
            </a:pPr>
            <a:r>
              <a:rPr lang="en-US" sz="21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：Backstage は catalog-info.yaml を自動走査し、GitHub Teams を所有者源に同期、Actions の状態を吸い上げる。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876300" y="6642422"/>
            <a:ext cx="8039100" cy="1169194"/>
          </a:xfrm>
          <a:prstGeom prst="roundRect">
            <a:avLst>
              <a:gd name="adj" fmla="val 4888"/>
            </a:avLst>
          </a:prstGeom>
          <a:solidFill>
            <a:srgbClr val="E6F6F6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6832922"/>
            <a:ext cx="7809357" cy="826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車両に喩えると GitHub ＝ </a:t>
            </a:r>
            <a:pPr algn="l" indent="0" marL="0">
              <a:lnSpc>
                <a:spcPct val="144000"/>
              </a:lnSpc>
              <a:buNone/>
            </a:pPr>
            <a:r>
              <a:rPr lang="en-US" sz="202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設計ドメインの CAD ＋ 変更レビューの源 </a:t>
            </a:r>
            <a:pPr algn="l" indent="0" marL="0">
              <a:lnSpc>
                <a:spcPct val="144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。3D アンカーに当たるのは Backstage のカタログ。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484593" y="4111377"/>
            <a:ext cx="7815039" cy="1028700"/>
          </a:xfrm>
          <a:prstGeom prst="roundRect">
            <a:avLst>
              <a:gd name="adj" fmla="val 9259"/>
            </a:avLst>
          </a:prstGeom>
          <a:solidFill>
            <a:srgbClr val="6BCBC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4346" y="4320927"/>
            <a:ext cx="813553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24346" y="4630489"/>
            <a:ext cx="813553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体験・アンカー層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3268325" y="5273427"/>
            <a:ext cx="3238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192000" y="5509617"/>
            <a:ext cx="2640330" cy="17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000000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一方向（シャドウ）に吸い上げ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72600" y="5780112"/>
            <a:ext cx="2616175" cy="60483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557" y="5932512"/>
            <a:ext cx="25422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084025" y="5780112"/>
            <a:ext cx="2616175" cy="60483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20983" y="5932512"/>
            <a:ext cx="25422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CI・CD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4795450" y="5780112"/>
            <a:ext cx="2616175" cy="60483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32408" y="5932512"/>
            <a:ext cx="25422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可観測性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9372600" y="6480200"/>
            <a:ext cx="2616175" cy="60483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9557" y="6632600"/>
            <a:ext cx="25422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インシデント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2084025" y="6480200"/>
            <a:ext cx="5327600" cy="60483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80311" y="6632600"/>
            <a:ext cx="533502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組織図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539663" y="7218387"/>
            <a:ext cx="18754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供給源（ソース群）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76300" y="922972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640854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二つの発見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2357214"/>
            <a:ext cx="8143875" cy="2122736"/>
          </a:xfrm>
          <a:prstGeom prst="roundRect">
            <a:avLst>
              <a:gd name="adj" fmla="val 4487"/>
            </a:avLst>
          </a:prstGeom>
          <a:solidFill>
            <a:srgbClr val="FAFAFA"/>
          </a:solidFill>
          <a:ln/>
        </p:spPr>
      </p:sp>
      <p:sp>
        <p:nvSpPr>
          <p:cNvPr id="7" name="Shape 5"/>
          <p:cNvSpPr/>
          <p:nvPr/>
        </p:nvSpPr>
        <p:spPr>
          <a:xfrm>
            <a:off x="876300" y="2357214"/>
            <a:ext cx="8143875" cy="5715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1162050" y="2662014"/>
            <a:ext cx="83296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発見 1 ・ 複数アンカーの「縫合」は実在する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2050" y="3100164"/>
            <a:ext cx="7799546" cy="1170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建築には複数 CDE を同期する </a:t>
            </a:r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Sync</a:t>
            </a:r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、創薬には </a:t>
            </a:r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間連携 </a:t>
            </a:r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、Cognite は「単一の巨大ツインをやめ、小さく目的特化したツインを多数」と明言。 </a:t>
            </a:r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成熟した現場ほど縫合へ向かう。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67825" y="2357214"/>
            <a:ext cx="8143875" cy="2122736"/>
          </a:xfrm>
          <a:prstGeom prst="roundRect">
            <a:avLst>
              <a:gd name="adj" fmla="val 4487"/>
            </a:avLst>
          </a:prstGeom>
          <a:solidFill>
            <a:srgbClr val="FAFAFA"/>
          </a:solidFill>
          <a:ln/>
        </p:spPr>
      </p:sp>
      <p:sp>
        <p:nvSpPr>
          <p:cNvPr id="11" name="Shape 9"/>
          <p:cNvSpPr/>
          <p:nvPr/>
        </p:nvSpPr>
        <p:spPr>
          <a:xfrm>
            <a:off x="9267825" y="2357214"/>
            <a:ext cx="8143875" cy="57150"/>
          </a:xfrm>
          <a:prstGeom prst="rect">
            <a:avLst/>
          </a:prstGeom>
          <a:solidFill>
            <a:srgbClr val="6BCBCB"/>
          </a:solidFill>
          <a:ln/>
        </p:spPr>
      </p:sp>
      <p:sp>
        <p:nvSpPr>
          <p:cNvPr id="12" name="Text 10"/>
          <p:cNvSpPr/>
          <p:nvPr/>
        </p:nvSpPr>
        <p:spPr>
          <a:xfrm>
            <a:off x="9553575" y="2662014"/>
            <a:ext cx="83296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発見 2 ・「生きたツイン」と「静的シャドウ」は業界の言葉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53575" y="3100164"/>
            <a:ext cx="7799546" cy="114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は</a:t>
            </a:r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書き戻し（write-back）可能で双方向 </a:t>
            </a:r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なものだけを本物のツイン、可視化だけはシャドウと切り分ける。AVEVA も常時同期する生きた表現と定義。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76300" y="4689500"/>
            <a:ext cx="16535400" cy="1227832"/>
          </a:xfrm>
          <a:prstGeom prst="roundRect">
            <a:avLst>
              <a:gd name="adj" fmla="val 7758"/>
            </a:avLst>
          </a:prstGeom>
          <a:solidFill>
            <a:srgbClr val="E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4923383"/>
            <a:ext cx="2182937" cy="760065"/>
          </a:xfrm>
          <a:prstGeom prst="roundRect">
            <a:avLst>
              <a:gd name="adj" fmla="val 10025"/>
            </a:avLst>
          </a:prstGeom>
          <a:solidFill>
            <a:srgbClr val="6BCBCB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5018633"/>
            <a:ext cx="1878137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0F3535"/>
                </a:solidFill>
                <a:highlight>
                  <a:srgbClr val="6BCBC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最も Backstage 的 な実例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3630737" y="4918100"/>
            <a:ext cx="13880448" cy="808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Foundry の Ontology</a:t>
            </a:r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（部品・機械・SKU・患者等を第一級オブジェクト化＋双方向）。ただし Backstage は </a:t>
            </a:r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オープン／ボトムアップ／所有グラフ型 </a:t>
            </a:r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、物理産業はほぼ</a:t>
            </a:r>
            <a:pPr algn="l" indent="0" marL="0">
              <a:lnSpc>
                <a:spcPct val="146000"/>
              </a:lnSpc>
              <a:buNone/>
            </a:pPr>
            <a:r>
              <a:rPr lang="en-US" sz="19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専有ベンダースイート</a:t>
            </a:r>
            <a:pPr algn="l" indent="0" marL="0">
              <a:lnSpc>
                <a:spcPct val="146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という違い。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876300" y="922972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42950"/>
            <a:ext cx="5424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6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3954" y="752475"/>
            <a:ext cx="640854" cy="409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4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6300" y="1276350"/>
            <a:ext cx="1818894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への含意と提言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76300" y="2023839"/>
            <a:ext cx="685800" cy="47625"/>
          </a:xfrm>
          <a:prstGeom prst="roundRect">
            <a:avLst>
              <a:gd name="adj" fmla="val 40000"/>
            </a:avLst>
          </a:prstGeom>
          <a:solidFill>
            <a:srgbClr val="6BCBCB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247151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7" name="Text 5"/>
          <p:cNvSpPr/>
          <p:nvPr/>
        </p:nvSpPr>
        <p:spPr>
          <a:xfrm>
            <a:off x="1114425" y="2357214"/>
            <a:ext cx="9039610" cy="8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真の親戚は Backstage ではなく、航空・自動車の </a:t>
            </a:r>
            <a:pPr algn="l" indent="0" marL="0">
              <a:lnSpc>
                <a:spcPct val="142000"/>
              </a:lnSpc>
              <a:buNone/>
            </a:pPr>
            <a:r>
              <a:rPr lang="en-US" sz="202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PLM＋デジタルスレッド／ツイン </a:t>
            </a:r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。日産も既に何らかの PLM を運用しているはず。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876300" y="3392314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6BCBCB"/>
          </a:solidFill>
          <a:ln/>
        </p:spPr>
      </p:sp>
      <p:sp>
        <p:nvSpPr>
          <p:cNvPr id="9" name="Text 7"/>
          <p:cNvSpPr/>
          <p:nvPr/>
        </p:nvSpPr>
        <p:spPr>
          <a:xfrm>
            <a:off x="1114425" y="3278014"/>
            <a:ext cx="9039610" cy="8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はカタログを作り直さず、ソース群の上に乗る </a:t>
            </a:r>
            <a:pPr algn="l" indent="0" marL="0">
              <a:lnSpc>
                <a:spcPct val="142000"/>
              </a:lnSpc>
              <a:buNone/>
            </a:pPr>
            <a:r>
              <a:rPr lang="en-US" sz="202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横断的な境界オブジェクト体験層 </a:t>
            </a:r>
            <a:pPr algn="l" indent="0" marL="0">
              <a:lnSpc>
                <a:spcPct val="142000"/>
              </a:lnSpc>
              <a:buNone/>
            </a:pPr>
            <a:r>
              <a:rPr lang="en-US" sz="20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として立つ（Backstage ↔ GitHub と同じ関係）。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876300" y="4198813"/>
            <a:ext cx="9014445" cy="995363"/>
          </a:xfrm>
          <a:prstGeom prst="roundRect">
            <a:avLst>
              <a:gd name="adj" fmla="val 3828"/>
            </a:avLst>
          </a:prstGeom>
          <a:solidFill>
            <a:srgbClr val="FFF8E6"/>
          </a:solidFill>
          <a:ln/>
        </p:spPr>
      </p:sp>
      <p:sp>
        <p:nvSpPr>
          <p:cNvPr id="11" name="Shape 9"/>
          <p:cNvSpPr/>
          <p:nvPr/>
        </p:nvSpPr>
        <p:spPr>
          <a:xfrm>
            <a:off x="876300" y="4198813"/>
            <a:ext cx="47625" cy="995363"/>
          </a:xfrm>
          <a:prstGeom prst="rect">
            <a:avLst/>
          </a:prstGeom>
          <a:solidFill>
            <a:srgbClr val="F2C0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475" y="4351213"/>
            <a:ext cx="880415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白地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：PLM はエンジニア向けで重く、経営・デザイナー・横断ステークホルダー向けの「単一の窓」は苦手。そこが SYNAPSE の領域。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876300" y="5346576"/>
            <a:ext cx="9014445" cy="2122884"/>
          </a:xfrm>
          <a:prstGeom prst="roundRect">
            <a:avLst>
              <a:gd name="adj" fmla="val 3589"/>
            </a:avLst>
          </a:prstGeom>
          <a:solidFill>
            <a:srgbClr val="E6F6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85850" y="5518026"/>
            <a:ext cx="94548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次の一手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085850" y="5922838"/>
            <a:ext cx="8853205" cy="697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ガバナンスを先に固める（状態データに出自・所有者・鮮度のメタ＝ owner＋検証＋スコアカード相当）。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5850" y="6638999"/>
            <a:ext cx="8853205" cy="697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の上の参照アーキテクチャ、または Palantir 型オントロジーの車両版オブジェクトモデルを試設計。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8895" y="2713658"/>
            <a:ext cx="7082805" cy="61786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6300" y="9248775"/>
            <a:ext cx="16535400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6"/>
          <p:cNvSpPr/>
          <p:nvPr/>
        </p:nvSpPr>
        <p:spPr>
          <a:xfrm>
            <a:off x="876300" y="9410700"/>
            <a:ext cx="451670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SYNAPSE｜他業界に学ぶ単一の真実源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642035" y="9446419"/>
            <a:ext cx="8458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000000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2026-06-29T07:39:20Z</dcterms:created>
  <dcterms:modified xsi:type="dcterms:W3CDTF">2026-06-29T07:39:20Z</dcterms:modified>
</cp:coreProperties>
</file>