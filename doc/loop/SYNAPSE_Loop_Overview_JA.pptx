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旧4層構造(デジタルツイン/スレッド/ゲートウェイ/予測リスク)を、1つの回り続けるループとして再定義した。今日はその考え方を説明する。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批判的再検証の要点は3つ。層という比喩の限界、リスク創発前提の破綻、製薬型ゲートの速度不適合。4層は廃止でなく再配置。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左が旧スタック、右が新ループ。要素は増えるのではなく、静的な積層から動的な循環に置き直される。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本日の中心スライド。5つの役割の平易な名前で覚えてもらう: 観測・解釈・合意の回し方・共通図・答え合わせ。技術文書ではo/z/wというCPC(集合的予測符号化)の記法に対応する。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連合方式(federated ASoT)とappend-onlyの2原則。特に後者は自己確証的ツイン(予測に合わせて記録が歪む)の構造的予防策。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z(解釈)の明示化が診断学を可能にする: o起因かz起因かで打ち手が変わる。サプライヤ境界も同じ語彙で扱える。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wの中身3点+鮮度減衰。鮮度は現地現物の価値の定量化: 現物確認だけが減衰をリセットできる。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これは根回しを廃止するのではなく、可視化して速くする道具。受容率分布はループ健全性の第一指標。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文化的緊張の解消がこのスライドの核心: 現地現物はループの答え合わせに不可欠な観測ステップと位置づけ直される。予測的中率が合意の重みになる点も強調。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崩壊演算子=アニーリング。製薬型ゲート批判への最終回答: ゲートが悪いのではなく「全部を少数の点で一斉に潰す」のが悪い。セットベースとゲートはここで両立する。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投資済み概念の継承を安心させるスライド。捨てるものはなく、居場所が変わる。価値軸A/Bも維持。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成熟スパイラル=経営層への段階投資言語。デジタルモデル→シャドー→ツインの成熟度は、R1-R3がシャドー、R4以降が統治されたツインに対応。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締め: ワンライン・ピッチ+健全性3指標+次アクション(R1 PoC)。質疑では旧4層との対応表(S11)に戻ると答えやすい。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417320"/>
            <a:ext cx="2834640" cy="2377440"/>
          </a:xfrm>
          <a:prstGeom prst="ellipse">
            <a:avLst/>
          </a:prstGeom>
          <a:ln w="19050">
            <a:solidFill>
              <a:srgbClr val="CADCFC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6775704" y="1289304"/>
            <a:ext cx="256032" cy="256032"/>
          </a:xfrm>
          <a:prstGeom prst="ellipse">
            <a:avLst/>
          </a:prstGeom>
          <a:solidFill>
            <a:srgbClr val="4C7DD0"/>
          </a:solidFill>
          <a:ln/>
        </p:spPr>
      </p:sp>
      <p:sp>
        <p:nvSpPr>
          <p:cNvPr id="4" name="Shape 2"/>
          <p:cNvSpPr/>
          <p:nvPr/>
        </p:nvSpPr>
        <p:spPr>
          <a:xfrm>
            <a:off x="8123655" y="2110689"/>
            <a:ext cx="256032" cy="256032"/>
          </a:xfrm>
          <a:prstGeom prst="ellipse">
            <a:avLst/>
          </a:prstGeom>
          <a:solidFill>
            <a:srgbClr val="8C6BC8"/>
          </a:solidFill>
          <a:ln/>
        </p:spPr>
      </p:sp>
      <p:sp>
        <p:nvSpPr>
          <p:cNvPr id="5" name="Shape 3"/>
          <p:cNvSpPr/>
          <p:nvPr/>
        </p:nvSpPr>
        <p:spPr>
          <a:xfrm>
            <a:off x="7608784" y="3439719"/>
            <a:ext cx="256032" cy="256032"/>
          </a:xfrm>
          <a:prstGeom prst="ellipse">
            <a:avLst/>
          </a:prstGeom>
          <a:solidFill>
            <a:srgbClr val="3FA37A"/>
          </a:solidFill>
          <a:ln/>
        </p:spPr>
      </p:sp>
      <p:sp>
        <p:nvSpPr>
          <p:cNvPr id="6" name="Shape 4"/>
          <p:cNvSpPr/>
          <p:nvPr/>
        </p:nvSpPr>
        <p:spPr>
          <a:xfrm>
            <a:off x="5942624" y="3439719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5427753" y="2110689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ループ・アーキテクチャ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254203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積み上げる構造から、回り続ける構造へ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NV-2026 車両開発インテリジェンスポータル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社内説明資料 — 新アーキテクチャ概説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なぜ4層構造を見直すのか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クロスインダストリー再検証(F1・ゲーム開発・造船・医療機器ほか)で見えた3つの構造問題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2F6FD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81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61208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214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「層」は止まった構造を想わせる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2798064"/>
            <a:ext cx="22494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得られた結論はすべて動くプロセスだった。共通の呼び名も部品の分類も、一度決めて終わりではなく、合意し直され続ける。積層図では循環を表せない。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2344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2F6FD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48132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99" y="161208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1214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リスクは「自然に生まれ」ない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93008" y="2798064"/>
            <a:ext cx="22494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予測リスクを「統合の副産物」と置いた前提が崩れた。F1も医療機器も、予測と現実の差は専任の担当と測定プロセスが要ると教えている。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2344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2F6FD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481328"/>
            <a:ext cx="502920" cy="502920"/>
          </a:xfrm>
          <a:prstGeom prst="ellipse">
            <a:avLst/>
          </a:prstGeom>
          <a:solidFill>
            <a:srgbClr val="3FA37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839" y="161208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21214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重いゲートは開発速度に合わない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27648" y="2798064"/>
            <a:ext cx="22494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少数の大きな関所で全部を一度に確定させる方式(製薬型)は、EV開発の反復速度と衝突する。確定のタイミングは項目ごとに違う。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結論: </a:t>
            </a:r>
            <a:pPr indent="0" marL="0">
              <a:buNone/>
            </a:pPr>
            <a:r>
              <a:rPr lang="en-US" sz="13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4層を捨てるのではない。「積み重ねた4つの層」を「1つのループの中の4つの役割」に配置し直す。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発想の転換 : スタックからループへ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E7EAF0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予測リスク可視化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75688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E7EAF0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7568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ゲートウェイ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25496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E7EAF0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2549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デジタルスレッド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75304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E7EAF0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7530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デジタルツイン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これまで : 4つの層を積む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2788920"/>
            <a:ext cx="1051560" cy="0"/>
          </a:xfrm>
          <a:prstGeom prst="line">
            <a:avLst/>
          </a:prstGeom>
          <a:noFill/>
          <a:ln w="444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46320" y="1417320"/>
            <a:ext cx="3200400" cy="2651760"/>
          </a:xfrm>
          <a:prstGeom prst="ellipse">
            <a:avLst/>
          </a:prstGeom>
          <a:ln w="3175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243584"/>
            <a:ext cx="347472" cy="347472"/>
          </a:xfrm>
          <a:prstGeom prst="ellipse">
            <a:avLst/>
          </a:prstGeom>
          <a:solidFill>
            <a:srgbClr val="4C7DD0"/>
          </a:solidFill>
          <a:ln/>
        </p:spPr>
      </p:sp>
      <p:sp>
        <p:nvSpPr>
          <p:cNvPr id="15" name="Text 13"/>
          <p:cNvSpPr/>
          <p:nvPr/>
        </p:nvSpPr>
        <p:spPr>
          <a:xfrm>
            <a:off x="5879592" y="90525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7D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94665" y="2159745"/>
            <a:ext cx="347472" cy="347472"/>
          </a:xfrm>
          <a:prstGeom prst="ellipse">
            <a:avLst/>
          </a:prstGeom>
          <a:solidFill>
            <a:srgbClr val="8C6BC8"/>
          </a:solidFill>
          <a:ln/>
        </p:spPr>
      </p:sp>
      <p:sp>
        <p:nvSpPr>
          <p:cNvPr id="17" name="Text 15"/>
          <p:cNvSpPr/>
          <p:nvPr/>
        </p:nvSpPr>
        <p:spPr>
          <a:xfrm>
            <a:off x="7940653" y="2086787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6B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13358" y="3642123"/>
            <a:ext cx="347472" cy="347472"/>
          </a:xfrm>
          <a:prstGeom prst="ellipse">
            <a:avLst/>
          </a:prstGeom>
          <a:solidFill>
            <a:srgbClr val="3FA37A"/>
          </a:solidFill>
          <a:ln/>
        </p:spPr>
      </p:sp>
      <p:sp>
        <p:nvSpPr>
          <p:cNvPr id="19" name="Text 17"/>
          <p:cNvSpPr/>
          <p:nvPr/>
        </p:nvSpPr>
        <p:spPr>
          <a:xfrm>
            <a:off x="7153398" y="3998545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A3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32210" y="3642123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605786" y="3998545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共通図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0903" y="2159745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3818531" y="2086787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答え合わせ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4434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 : 1つのループを回す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 → 合成 → 予測 → 答え合わせ → 更新 — この一巡を回し続けることが、開発情報を正しく保つ唯一の方法。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ループの全体像 — 5つの役割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057400" y="1426464"/>
            <a:ext cx="5029200" cy="2962656"/>
          </a:xfrm>
          <a:prstGeom prst="ellipse">
            <a:avLst/>
          </a:prstGeom>
          <a:ln w="381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790254">
            <a:off x="5949461" y="1608788"/>
            <a:ext cx="201168" cy="201168"/>
          </a:xfrm>
          <a:prstGeom prst="triangle">
            <a:avLst/>
          </a:prstGeom>
          <a:solidFill>
            <a:srgbClr val="9FB6E8"/>
          </a:solidFill>
          <a:ln/>
        </p:spPr>
      </p:sp>
      <p:sp>
        <p:nvSpPr>
          <p:cNvPr id="5" name="Shape 3"/>
          <p:cNvSpPr/>
          <p:nvPr/>
        </p:nvSpPr>
        <p:spPr>
          <a:xfrm rot="12532765">
            <a:off x="6862943" y="3264964"/>
            <a:ext cx="201168" cy="201168"/>
          </a:xfrm>
          <a:prstGeom prst="triangle">
            <a:avLst/>
          </a:prstGeom>
          <a:solidFill>
            <a:srgbClr val="9FB6E8"/>
          </a:solidFill>
          <a:ln/>
        </p:spPr>
      </p:sp>
      <p:sp>
        <p:nvSpPr>
          <p:cNvPr id="6" name="Shape 4"/>
          <p:cNvSpPr/>
          <p:nvPr/>
        </p:nvSpPr>
        <p:spPr>
          <a:xfrm rot="16200000">
            <a:off x="4471416" y="4288536"/>
            <a:ext cx="201168" cy="201168"/>
          </a:xfrm>
          <a:prstGeom prst="triangle">
            <a:avLst/>
          </a:prstGeom>
          <a:solidFill>
            <a:srgbClr val="9FB6E8"/>
          </a:solidFill>
          <a:ln/>
        </p:spPr>
      </p:sp>
      <p:sp>
        <p:nvSpPr>
          <p:cNvPr id="7" name="Shape 5"/>
          <p:cNvSpPr/>
          <p:nvPr/>
        </p:nvSpPr>
        <p:spPr>
          <a:xfrm rot="19867235">
            <a:off x="2079889" y="3264964"/>
            <a:ext cx="201168" cy="201168"/>
          </a:xfrm>
          <a:prstGeom prst="triangle">
            <a:avLst/>
          </a:prstGeom>
          <a:solidFill>
            <a:srgbClr val="9FB6E8"/>
          </a:solidFill>
          <a:ln/>
        </p:spPr>
      </p:sp>
      <p:sp>
        <p:nvSpPr>
          <p:cNvPr id="8" name="Shape 6"/>
          <p:cNvSpPr/>
          <p:nvPr/>
        </p:nvSpPr>
        <p:spPr>
          <a:xfrm rot="4009746">
            <a:off x="2993371" y="1608788"/>
            <a:ext cx="201168" cy="201168"/>
          </a:xfrm>
          <a:prstGeom prst="triangle">
            <a:avLst/>
          </a:prstGeom>
          <a:solidFill>
            <a:srgbClr val="9FB6E8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523744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予測開発ループ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89020" y="100584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2225">
            <a:solidFill>
              <a:srgbClr val="4C7DD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7892" y="1243584"/>
            <a:ext cx="365760" cy="365760"/>
          </a:xfrm>
          <a:prstGeom prst="ellipse">
            <a:avLst/>
          </a:prstGeom>
          <a:solidFill>
            <a:srgbClr val="4C7DD0"/>
          </a:solidFill>
          <a:ln/>
        </p:spPr>
      </p:sp>
      <p:sp>
        <p:nvSpPr>
          <p:cNvPr id="12" name="Text 10"/>
          <p:cNvSpPr/>
          <p:nvPr/>
        </p:nvSpPr>
        <p:spPr>
          <a:xfrm>
            <a:off x="3707892" y="1243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37660" y="1078992"/>
            <a:ext cx="1325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7D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観測</a:t>
            </a:r>
            <a:endParaRPr lang="en-US" sz="1250" dirty="0"/>
          </a:p>
          <a:p>
            <a:pPr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各部門の実データ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0547" y="2029412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2225">
            <a:solidFill>
              <a:srgbClr val="8C6BC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99419" y="2267156"/>
            <a:ext cx="365760" cy="365760"/>
          </a:xfrm>
          <a:prstGeom prst="ellipse">
            <a:avLst/>
          </a:prstGeom>
          <a:solidFill>
            <a:srgbClr val="8C6BC8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419" y="22671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29187" y="2102564"/>
            <a:ext cx="1325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6B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</a:t>
            </a:r>
            <a:endParaRPr lang="en-US" sz="1250" dirty="0"/>
          </a:p>
          <a:p>
            <a:pPr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各部門の見方・モデル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67065" y="3685588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2225">
            <a:solidFill>
              <a:srgbClr val="3FA37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85937" y="3923332"/>
            <a:ext cx="365760" cy="365760"/>
          </a:xfrm>
          <a:prstGeom prst="ellipse">
            <a:avLst/>
          </a:prstGeom>
          <a:solidFill>
            <a:srgbClr val="3FA37A"/>
          </a:solidFill>
          <a:ln/>
        </p:spPr>
      </p:sp>
      <p:sp>
        <p:nvSpPr>
          <p:cNvPr id="20" name="Text 18"/>
          <p:cNvSpPr/>
          <p:nvPr/>
        </p:nvSpPr>
        <p:spPr>
          <a:xfrm>
            <a:off x="5185937" y="39233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15705" y="3758740"/>
            <a:ext cx="1325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A3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合意の回し方</a:t>
            </a:r>
            <a:endParaRPr lang="en-US" sz="1250" dirty="0"/>
          </a:p>
          <a:p>
            <a:pPr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提案と受容の手続き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110975" y="3685588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29847" y="39233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2229847" y="39233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659615" y="3758740"/>
            <a:ext cx="1325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共通図</a:t>
            </a:r>
            <a:endParaRPr lang="en-US" sz="1250" dirty="0"/>
          </a:p>
          <a:p>
            <a:pPr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合意された呼び名・対応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197493" y="2029412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16365" y="226715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1316365" y="22671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746133" y="2102564"/>
            <a:ext cx="1325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答え合わせ</a:t>
            </a:r>
            <a:endParaRPr lang="en-US" sz="1250" dirty="0"/>
          </a:p>
          <a:p>
            <a:pPr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予測と現実の差を測る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4736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循環の意味 : 各部門がデータを観測し、自部門の見方で解釈し、提案と受容で共通図を更新し、共通図が生む予測を現実と突き合わせ、その差が次の提案を生む。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観測 — 部門のデータは部門のもの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CAD・試験結果・コスト実績・スタイリング意図 … すべての「測ったこと・決めたこと」の記録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4C7DD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42280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984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連合方式(中央に吸い上げない)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34440" y="1618488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各部門の正式データはその部門のシステムに残す。SYNAPSEは束ねるだけで、所有権を奪わない。所有権を奪う一元化は必ずExcelへの逃避を生む。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34440" y="2377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記録は追記のみ(あとから書き換えない)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34440" y="269748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予測に合わせて実測の記録を直す経路を、仕組みとして持たない。これが「予測に都合よく現実が歪む」事故を構造的に防ぐ。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234440" y="34564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履歴 = どの観測がどの合意を生んだか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234440" y="3776472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旧「デジタルスレッド」の実体はここに移る。トレーサビリティとはループの監査証跡のこと。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89320" y="155448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4C7DD0"/>
          </a:solidFill>
          <a:ln/>
        </p:spPr>
      </p:sp>
      <p:sp>
        <p:nvSpPr>
          <p:cNvPr id="13" name="Text 10"/>
          <p:cNvSpPr/>
          <p:nvPr/>
        </p:nvSpPr>
        <p:spPr>
          <a:xfrm>
            <a:off x="5989320" y="1554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観測の記録 (実測)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89320" y="33375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5989320" y="3337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共通図 (合意・予測)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92240" y="2240280"/>
            <a:ext cx="0" cy="1097280"/>
          </a:xfrm>
          <a:prstGeom prst="line">
            <a:avLst/>
          </a:prstGeom>
          <a:noFill/>
          <a:ln w="31750">
            <a:solidFill>
              <a:srgbClr val="3FA37A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5669280" y="2651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A3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反映する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 flipV="1">
            <a:off x="7955280" y="2240280"/>
            <a:ext cx="0" cy="1097280"/>
          </a:xfrm>
          <a:prstGeom prst="line">
            <a:avLst/>
          </a:prstGeom>
          <a:noFill/>
          <a:ln w="31750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8138160" y="2487168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書き換え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禁止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790688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760720" y="4297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共通図から観測へは「新しい提案・指示」だけが戻る。記録そのものは触れない。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解釈 — 不一致を「診断」できるようにする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旧4層に居場所がなかった新要素。各部門のCAEモデル・経験則・ものの見方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8C6BC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42280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部門どうしの意見が合わないとき、原因は必ず次の2つに分かれる 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2F6FD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12140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4C7DD0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1214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観測のずれ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25968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見ているデータが違う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9443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同じ部品でも参照している試験・版・条件が異なる。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33467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7D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対処 : 観測を突き合わせ、参照先を揃える。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09160" y="19202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2F6FD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37760" y="212140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8C6BC8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21214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解釈のずれ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937760" y="25968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同じデータでも読み方が違う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37760" y="29443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評価モデルや経験則、重視する観点が部門で異なる。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937760" y="33467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6B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対処 : モデル間の相関を確認する。確定期限までは複数の解釈の併存も正常。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4023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 : 解釈モデルそのものは共有しない。共有するのは「その予測」だけ。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この原則により、解釈の中身が見えないサプライヤも「解釈が不透明な一部門」として同じ枠組みで扱える(情報境界の設計)。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共通図 — アンカーの新しい居場所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全部門が合意した「呼び名と対応関係」の集合。3Dモデルはその表示の一つにすぎない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51760" cy="1572768"/>
          </a:xfrm>
          <a:prstGeom prst="roundRect">
            <a:avLst>
              <a:gd name="adj" fmla="val 4651"/>
            </a:avLst>
          </a:prstGeom>
          <a:solidFill>
            <a:srgbClr val="F2F6FD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44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永続ID + 合成の規律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構想スケッチ→クラスA→量産CADと形が変わっても「同じ部位」を追える背骨。上書きは非破壊で、過去の状態に戻れる。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298448"/>
            <a:ext cx="2651760" cy="1572768"/>
          </a:xfrm>
          <a:prstGeom prst="roundRect">
            <a:avLst>
              <a:gd name="adj" fmla="val 4651"/>
            </a:avLst>
          </a:prstGeom>
          <a:solidFill>
            <a:srgbClr val="F2F6FD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444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用語辞書・部品分類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0" y="1847088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係争語の共通定義、新規/流用/一部変更の分類と、その分類が決める検証範囲。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298448"/>
            <a:ext cx="2651760" cy="1572768"/>
          </a:xfrm>
          <a:prstGeom prst="roundRect">
            <a:avLst>
              <a:gd name="adj" fmla="val 4651"/>
            </a:avLst>
          </a:prstGeom>
          <a:solidFill>
            <a:srgbClr val="F2F6FD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444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リスク重大度・受け渡し規約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0" y="1847088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乖離の深刻度の共通尺度と、部門間でデータを渡すときの変換ルール。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鮮度 : 共通図の各項目は「最後に現物で確かめてからの時間」で信頼度が下がる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611880"/>
            <a:ext cx="1463040" cy="457200"/>
          </a:xfrm>
          <a:prstGeom prst="rect">
            <a:avLst/>
          </a:prstGeom>
          <a:solidFill>
            <a:srgbClr val="3FA37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3016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新鮮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0" y="3611880"/>
            <a:ext cx="1463040" cy="457200"/>
          </a:xfrm>
          <a:prstGeom prst="rect">
            <a:avLst/>
          </a:prstGeom>
          <a:solidFill>
            <a:srgbClr val="8FBF6E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0" y="3611880"/>
            <a:ext cx="1463040" cy="457200"/>
          </a:xfrm>
          <a:prstGeom prst="rect">
            <a:avLst/>
          </a:prstGeom>
          <a:solidFill>
            <a:srgbClr val="D9B03C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363016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要注意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0" y="3611880"/>
            <a:ext cx="146304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363016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古い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412394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時間の経過 →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 flipH="1">
            <a:off x="6812280" y="3840480"/>
            <a:ext cx="91440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699248" y="3502152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現物確認が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信頼をリセット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デジタルの予測は毎日流れ続けるが、現物の確認は試作のたびにしか来ない。鮮度表示は「そろそろ現物で確かめるべき項目」を自動で教える。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合意の回し方 — 根回しの見える化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旧「ゲートウェイ」の一般化 : 提案と受容の手続きを、頻度を変えて回す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3FA37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422806"/>
            <a:ext cx="263347" cy="2633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34440" y="13716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3FA37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371600" y="1463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3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773936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自部門のデータに基づいて呼び名・分類・対応を提案する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29000" y="1892808"/>
            <a:ext cx="274320" cy="0"/>
          </a:xfrm>
          <a:prstGeom prst="line">
            <a:avLst/>
          </a:prstGeom>
          <a:noFill/>
          <a:ln w="3175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749040" y="13716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886200" y="1463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受容判定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886200" y="1773936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受け手は「自部門のデータをどれだけうまく説明するか」で判断する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0" y="1892808"/>
            <a:ext cx="274320" cy="0"/>
          </a:xfrm>
          <a:prstGeom prst="line">
            <a:avLst/>
          </a:prstGeom>
          <a:noFill/>
          <a:ln w="3175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263640" y="13716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4C7DD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0" y="1463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7D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1773936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すべての提案と受容をログに残す(誰が・何を・なぜ)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5029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頻度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場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毎日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軽い統合確認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壊れた組み合わせを翌日に持ち越さない(ゲーム開発流)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節目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集中レビュー(DR)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多数の提案を一度に処理し、人の判断を集中投入する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フェーズ移行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アンカーの再交渉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形が変わるとき「どれが同じ部位か」を手続きとして決める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随時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外部認証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型式認証など。審査を待つ間も下流の並行作業は止めない(造船流)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健全性のサイン : </a:t>
            </a:r>
            <a:pPr indent="0" marL="0">
              <a:buNone/>
            </a:pPr>
            <a:r>
              <a:rPr lang="en-US" sz="115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提案役と受け手は交替制。受容率が常に100%(儀式化)や常に0%(膠着)に張り付いたら、仕組みが死んでいる合図。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答え合わせ — 現地現物はループの一部になる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予測と現実の差(乖離)を、専任で測り続ける役割 — F1の相関管理に学ぶ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デジタルの予測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(CAE・シミュレーション)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物理の実測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(試作・実験・現物確認)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1737360"/>
            <a:ext cx="777240" cy="41148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3154680" y="2743200"/>
            <a:ext cx="777240" cy="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154680" y="2331720"/>
            <a:ext cx="777240" cy="41148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77640" y="192024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1920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差を測る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0720" y="2286000"/>
            <a:ext cx="640080" cy="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46520" y="1920240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3FA37A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920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次の提案へ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(共通図の見直し)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乖離の管理は「自然に生まれる出力」ではない。専任の担当・追跡表・測定の習慣が要る(F1・医療機器の共通結論)。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各部門の「過去の予測がどれだけ当たったか」を記録し、それが次の合意での発言の重みになる — 声の大きさではなくデータで。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現物確認は、デジタルツインの対立物ではなく、ループの観測ステップそのもの。共通図を正直に保つ唯一の情報源。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ゲートの再定義 — 「焼きなまし」で答えを固める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ゲート = その項目の答えを一つに確定させる日。全項目一斉ではなく、項目ごとに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422806"/>
            <a:ext cx="263347" cy="2633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37360" y="1691640"/>
            <a:ext cx="4937760" cy="685800"/>
          </a:xfrm>
          <a:prstGeom prst="line">
            <a:avLst/>
          </a:prstGeom>
          <a:noFill/>
          <a:ln w="19050">
            <a:solidFill>
              <a:srgbClr val="B9C6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09344" y="1563624"/>
            <a:ext cx="256032" cy="2560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37360" y="2148840"/>
            <a:ext cx="4937760" cy="228600"/>
          </a:xfrm>
          <a:prstGeom prst="line">
            <a:avLst/>
          </a:prstGeom>
          <a:noFill/>
          <a:ln w="19050">
            <a:solidFill>
              <a:srgbClr val="B9C6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09344" y="2020824"/>
            <a:ext cx="256032" cy="2560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1737360" y="2377440"/>
            <a:ext cx="4937760" cy="228600"/>
          </a:xfrm>
          <a:prstGeom prst="line">
            <a:avLst/>
          </a:prstGeom>
          <a:noFill/>
          <a:ln w="19050">
            <a:solidFill>
              <a:srgbClr val="B9C6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09344" y="2478024"/>
            <a:ext cx="256032" cy="2560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1737360" y="2377440"/>
            <a:ext cx="4937760" cy="685800"/>
          </a:xfrm>
          <a:prstGeom prst="line">
            <a:avLst/>
          </a:prstGeom>
          <a:noFill/>
          <a:ln w="19050">
            <a:solidFill>
              <a:srgbClr val="B9C6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09344" y="2935224"/>
            <a:ext cx="256032" cy="2560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10528" y="221284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Shape 12"/>
          <p:cNvSpPr/>
          <p:nvPr/>
        </p:nvSpPr>
        <p:spPr>
          <a:xfrm>
            <a:off x="7360920" y="1417320"/>
            <a:ext cx="0" cy="196596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6903720" y="34564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不可逆の期限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(金型発注・認証申請 など)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417320" y="34015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高温 : 複数案を併存させて検討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(トヨタ流セットベース)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206240" y="3401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冷却 : 期限が近づくほど絞り込む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0" y="1965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4041648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「大きなゲート少数」から「小さな確定を多数」へ。項目ごとに、それぞれの不可逆期限で確定する。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確定したあとの再検討は、なし崩しではなく正式な設計変更(コストの見える再加熱)として扱う。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流用部品とは「最初から確定済みで入ってくる項目」。一部変更とは「特定の軸だけ再加熱する」こと — 分類の意味がここで揃う。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旧4層はどこへ行ったか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廃止ではなく再配置 — 積層の4層が、ループの4つの役割になる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468880"/>
                <a:gridCol w="3383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旧4層(スタック)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ループでの役割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何が変わったか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デジタルツイン(3D表示)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共通図の「表示の一つ」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主役は永続IDと合意。3Dは見せ方であって本体ではない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デジタルスレッド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観測の履歴 + 合意のログ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独立した層から、ループ全体の監査証跡へ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ゲートウェイ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合意の回し方 + 確定の期日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少数の大ゲートから、項目ごとの小さな確定の集まりへ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④ 予測リスク可視化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答え合わせ(乖離の管理)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「自然に生まれる出力」から「専任で測る仕事」へ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C6BC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(旧構造に存在せず)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C6BC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解釈 — 各部門の見方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C6BC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新設。不一致の原因診断(データ違い/読み方違い)が可能になる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2つの価値軸(A: 物体起点の操作性 / B: 部門横断の状態統合)は、共通図の表示とそれを保つ循環として、どちらも維持される。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導入ロードマップ — ループを少しずつ太くする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「層を順に建てる」のではなく「小さなループを完全に1周させてから、対象を広げる」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761488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4C7DD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2871216"/>
            <a:ext cx="402336" cy="402336"/>
          </a:xfrm>
          <a:prstGeom prst="ellipse">
            <a:avLst/>
          </a:prstGeom>
          <a:solidFill>
            <a:srgbClr val="4C7DD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29077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D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用語ループ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3328416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2部門×約20の係争語で共通辞書を回す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57984" y="2432304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3FA37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67712" y="2542032"/>
            <a:ext cx="402336" cy="402336"/>
          </a:xfrm>
          <a:prstGeom prst="ellipse">
            <a:avLst/>
          </a:prstGeom>
          <a:solidFill>
            <a:srgbClr val="3FA37A"/>
          </a:solidFill>
          <a:ln/>
        </p:spPr>
      </p:sp>
      <p:sp>
        <p:nvSpPr>
          <p:cNvPr id="11" name="Text 9"/>
          <p:cNvSpPr/>
          <p:nvPr/>
        </p:nvSpPr>
        <p:spPr>
          <a:xfrm>
            <a:off x="226771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24912" y="257860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A3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分類ループ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67712" y="2999232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1サブシステムで新規/流用/一部変更の合意を回す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58768" y="2103120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8C6BC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68496" y="2212848"/>
            <a:ext cx="402336" cy="402336"/>
          </a:xfrm>
          <a:prstGeom prst="ellipse">
            <a:avLst/>
          </a:prstGeom>
          <a:solidFill>
            <a:srgbClr val="8C6BC8"/>
          </a:solidFill>
          <a:ln/>
        </p:spPr>
      </p:sp>
      <p:sp>
        <p:nvSpPr>
          <p:cNvPr id="16" name="Text 14"/>
          <p:cNvSpPr/>
          <p:nvPr/>
        </p:nvSpPr>
        <p:spPr>
          <a:xfrm>
            <a:off x="3968496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25696" y="224942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6B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幾何ループ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68496" y="2670048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1部品群でフェーズ移行のID対応を交渉で決める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59552" y="1773936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1883664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19202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乖離ループ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2340864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1領域(例:航続予測)で答え合わせと的中率記録を回す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60336" y="1444752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70064" y="15544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370064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27264" y="159105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全体ループ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70064" y="20116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全部門・車両プログラムの節目に接続して回す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1143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周回を重ねるごとに忠実度が上がる 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0740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各周回に合否基準を置く : </a:t>
            </a:r>
            <a:pPr indent="0" marL="0">
              <a:buNone/>
            </a:pPr>
            <a:r>
              <a:rPr lang="en-US" sz="1100" dirty="0">
                <a:solidFill>
                  <a:srgbClr val="2630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 R1 = 委員会方式より下流の手戻りを減らせるか / R4 = 部門ごとに30件以上の予測-実測ペアが貯まってから重み付けを開始。基準を満たさなければ次の周回に進まない。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SYNAPSEは、クルマの「共通の絵」を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正直に保ち続ける仕組み。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全部門が提案し、提案はデータで検証され、予測は必ず現物と突き合わされる。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6263D"/>
          </a:solidFill>
          <a:ln w="12700">
            <a:solidFill>
              <a:srgbClr val="2E45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87121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受容率の分布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2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常に100%/0%は形骸化のサイン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37560" y="27432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6263D"/>
          </a:solidFill>
          <a:ln w="12700">
            <a:solidFill>
              <a:srgbClr val="2E4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87121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共通図の鮮度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20440" y="3200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2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重要項目が現物確認から離れすぎていないか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27432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6263D"/>
          </a:solidFill>
          <a:ln w="12700">
            <a:solidFill>
              <a:srgbClr val="2E4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87121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確定日の時間厳守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3200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2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期限に間に合わない確定は旧来の失敗の再来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ループは完成していても「止まって」いることがある — 見るべきは構造ではなく、回っているかどうか。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次のアクション : 第1周回(用語ループ)PoCの計画着手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SYNAPSE ループ・アーキテクチャ</dc:title>
  <dc:subject>PptxGenJS Presentation</dc:subject>
  <dc:creator>SYNAPSE Project</dc:creator>
  <cp:lastModifiedBy>SYNAPSE Project</cp:lastModifiedBy>
  <cp:revision>1</cp:revision>
  <dcterms:created xsi:type="dcterms:W3CDTF">2026-07-03T16:56:57Z</dcterms:created>
  <dcterms:modified xsi:type="dcterms:W3CDTF">2026-07-03T16:56:57Z</dcterms:modified>
</cp:coreProperties>
</file>